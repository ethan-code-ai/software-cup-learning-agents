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C5EE6DF-AF8B-48A8-AAF9-73B32EA5A7CC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A3 组赛题 · 项目演示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9BFDEE-13A8-4D4B-A8F4-9299B6012875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52387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 i="0">
                <a:solidFill>
                  <a:srgbClr val="14211F"/>
                </a:solidFill>
              </a:defRPr>
            </a:pPr>
            <a:r>
              <a:rPr sz="4050" b="1" i="0">
                <a:solidFill>
                  <a:srgbClr val="14211F"/>
                </a:solidFill>
              </a:rPr>
              <a:t>基于大模型的</a:t>
            </a:r>
          </a:p>
          <a:p>
            <a:pPr algn="l">
              <a:defRPr sz="4050" b="1" i="0">
                <a:solidFill>
                  <a:srgbClr val="14211F"/>
                </a:solidFill>
              </a:defRPr>
            </a:pPr>
            <a:r>
              <a:rPr sz="4050" b="1" i="0">
                <a:solidFill>
                  <a:srgbClr val="14211F"/>
                </a:solidFill>
              </a:rPr>
              <a:t>个性化资源生成与</a:t>
            </a:r>
          </a:p>
          <a:p>
            <a:pPr algn="l">
              <a:defRPr sz="4050" b="1" i="0">
                <a:solidFill>
                  <a:srgbClr val="14211F"/>
                </a:solidFill>
              </a:defRPr>
            </a:pPr>
            <a:r>
              <a:rPr sz="4050" b="1" i="0">
                <a:solidFill>
                  <a:srgbClr val="14211F"/>
                </a:solidFill>
              </a:rPr>
              <a:t>学习多智能体系统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4813BA-EE8E-44A0-952D-88FFF29ED9AF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65716D"/>
                </a:solidFill>
              </a:defRPr>
            </a:pPr>
            <a:r>
              <a:rPr sz="1800" b="0" i="0">
                <a:solidFill>
                  <a:srgbClr val="65716D"/>
                </a:solidFill>
              </a:rPr>
              <a:t>面向数据结构课程的可追溯个性化学习闭环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3A3481-AF37-4B3E-AA51-B767D4D39703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200150" cy="47625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9C278B7-750D-4DBD-B3B4-A0244001F562}"/>
              </a:ext>
            </a:extLst>
          </p:cNvPr>
          <p:cNvSpPr>
            <a:spLocks noGrp="1"/>
          </p:cNvSpPr>
          <p:nvPr/>
        </p:nvSpPr>
        <p:spPr>
          <a:xfrm>
            <a:off x="6096000" y="590550"/>
            <a:ext cx="55245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17792" r="17792"/>
          <a:stretch>
            <a:fillRect/>
          </a:stretch>
        </p:blipFill>
        <p:spPr>
          <a:xfrm>
            <a:off x="6191250" y="685800"/>
            <a:ext cx="5334000" cy="4953000"/>
          </a:xfrm>
          <a:prstGeom prst="roundRect">
            <a:avLst>
              <a:gd name="adj" fmla="val 2308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9799730-FDCF-4457-B68E-818B02F7CC38}"/>
              </a:ext>
            </a:extLst>
          </p:cNvPr>
          <p:cNvSpPr>
            <a:spLocks noGrp="1"/>
          </p:cNvSpPr>
          <p:nvPr/>
        </p:nvSpPr>
        <p:spPr>
          <a:xfrm>
            <a:off x="666750" y="6096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5716D"/>
                </a:solidFill>
              </a:defRPr>
            </a:pPr>
            <a:r>
              <a:rPr sz="1125" b="0" i="0">
                <a:solidFill>
                  <a:srgbClr val="65716D"/>
                </a:solidFill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55828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314CAF5-993B-4EC9-9ADE-F06CA407A67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8DD480-74E7-4170-8BD1-7841B1B281A0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00D098-EA6A-40C9-9959-BA2D73E86CD1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学习差异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9D90F6-2745-4D52-8833-DDFA0E01911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同一门课，学生需要的不是同一份资料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2B0A98-120E-4205-AD9F-9E8A14DD3448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F6F62"/>
                </a:solidFill>
              </a:defRPr>
            </a:pPr>
            <a:r>
              <a:rPr sz="2100" b="1" i="0">
                <a:solidFill>
                  <a:srgbClr val="2F6F62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806960-D335-4726-AB8A-24FA3FA25902}"/>
              </a:ext>
            </a:extLst>
          </p:cNvPr>
          <p:cNvSpPr>
            <a:spLocks noGrp="1"/>
          </p:cNvSpPr>
          <p:nvPr/>
        </p:nvSpPr>
        <p:spPr>
          <a:xfrm>
            <a:off x="1562100" y="17907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4211F"/>
                </a:solidFill>
              </a:defRPr>
            </a:pPr>
            <a:r>
              <a:rPr sz="2400" b="1" i="0">
                <a:solidFill>
                  <a:srgbClr val="14211F"/>
                </a:solidFill>
              </a:rPr>
              <a:t>基础薄弱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CF6FA5-7D6E-404D-8448-C546AB17884C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65716D"/>
                </a:solidFill>
              </a:defRPr>
            </a:pPr>
            <a:r>
              <a:rPr sz="1800" b="0" i="0">
                <a:solidFill>
                  <a:srgbClr val="65716D"/>
                </a:solidFill>
              </a:rPr>
              <a:t>需要概念拆解、例题和更慢的解释节奏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46460F-DB5E-440A-AC05-02A0869B7564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1009650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508F18-4B42-40E2-9695-DBD85802F63D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F6F62"/>
                </a:solidFill>
              </a:defRPr>
            </a:pPr>
            <a:r>
              <a:rPr sz="2100" b="1" i="0">
                <a:solidFill>
                  <a:srgbClr val="2F6F62"/>
                </a:solidFill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C9468B-4744-4B6C-9E5F-159D8CACEDAF}"/>
              </a:ext>
            </a:extLst>
          </p:cNvPr>
          <p:cNvSpPr>
            <a:spLocks noGrp="1"/>
          </p:cNvSpPr>
          <p:nvPr/>
        </p:nvSpPr>
        <p:spPr>
          <a:xfrm>
            <a:off x="1562100" y="30480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4211F"/>
                </a:solidFill>
              </a:defRPr>
            </a:pPr>
            <a:r>
              <a:rPr sz="2400" b="1" i="0">
                <a:solidFill>
                  <a:srgbClr val="14211F"/>
                </a:solidFill>
              </a:rPr>
              <a:t>考试冲刺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6E4C85-2AFD-466D-9A51-AC4F0A44FD77}"/>
              </a:ext>
            </a:extLst>
          </p:cNvPr>
          <p:cNvSpPr>
            <a:spLocks noGrp="1"/>
          </p:cNvSpPr>
          <p:nvPr/>
        </p:nvSpPr>
        <p:spPr>
          <a:xfrm>
            <a:off x="4191000" y="306705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65716D"/>
                </a:solidFill>
              </a:defRPr>
            </a:pPr>
            <a:r>
              <a:rPr sz="1800" b="0" i="0">
                <a:solidFill>
                  <a:srgbClr val="65716D"/>
                </a:solidFill>
              </a:rPr>
              <a:t>需要重点归纳、易错点和短周期复习安排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906135-2000-4D16-8501-B41CFABA1D22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1009650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5F13A9-3FD9-4031-8DC8-0E87AF79A8EE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F6F62"/>
                </a:solidFill>
              </a:defRPr>
            </a:pPr>
            <a:r>
              <a:rPr sz="2100" b="1" i="0">
                <a:solidFill>
                  <a:srgbClr val="2F6F62"/>
                </a:solidFill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9D7898-F245-4756-9D52-BB646C7FDC41}"/>
              </a:ext>
            </a:extLst>
          </p:cNvPr>
          <p:cNvSpPr>
            <a:spLocks noGrp="1"/>
          </p:cNvSpPr>
          <p:nvPr/>
        </p:nvSpPr>
        <p:spPr>
          <a:xfrm>
            <a:off x="1562100" y="43053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4211F"/>
                </a:solidFill>
              </a:defRPr>
            </a:pPr>
            <a:r>
              <a:rPr sz="2400" b="1" i="0">
                <a:solidFill>
                  <a:srgbClr val="14211F"/>
                </a:solidFill>
              </a:rPr>
              <a:t>算法实践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DF9117-C017-47AD-A896-1B43AF3DCBCC}"/>
              </a:ext>
            </a:extLst>
          </p:cNvPr>
          <p:cNvSpPr>
            <a:spLocks noGrp="1"/>
          </p:cNvSpPr>
          <p:nvPr/>
        </p:nvSpPr>
        <p:spPr>
          <a:xfrm>
            <a:off x="4191000" y="432435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65716D"/>
                </a:solidFill>
              </a:defRPr>
            </a:pPr>
            <a:r>
              <a:rPr sz="1800" b="0" i="0">
                <a:solidFill>
                  <a:srgbClr val="65716D"/>
                </a:solidFill>
              </a:rPr>
              <a:t>需要代码案例、复杂度观察和动手练习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974773-877F-47BA-9703-0FB36F2A18AF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57150" cy="66675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62E8F8-C068-4F9C-A8EC-7B60FE3515A3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B56E3C"/>
                </a:solidFill>
              </a:defRPr>
            </a:pPr>
            <a:r>
              <a:rPr sz="1350" b="1" i="0">
                <a:solidFill>
                  <a:srgbClr val="B56E3C"/>
                </a:solidFill>
              </a:rPr>
              <a:t>问题不在资源数量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25CEF8-A2F9-447A-B0D3-B61D896EB321}"/>
              </a:ext>
            </a:extLst>
          </p:cNvPr>
          <p:cNvSpPr>
            <a:spLocks noGrp="1"/>
          </p:cNvSpPr>
          <p:nvPr/>
        </p:nvSpPr>
        <p:spPr>
          <a:xfrm>
            <a:off x="933450" y="5924550"/>
            <a:ext cx="9886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 dirty="0" err="1">
                <a:solidFill>
                  <a:srgbClr val="14211F"/>
                </a:solidFill>
              </a:rPr>
              <a:t>真正缺少的是：根据学生状态持续选择、生成、验证和调整内容</a:t>
            </a:r>
            <a:r>
              <a:rPr sz="1725" b="0" i="0" dirty="0">
                <a:solidFill>
                  <a:srgbClr val="14211F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3600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D6D19D2-4276-4F01-BCE7-F62216DBEF9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解决方案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C8F5DB-131B-4AB0-B55C-CA5A2B27F81A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CEC47F-E3C9-4CC5-9573-86CBA026E5EC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核心价值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E6F8E4-C141-437E-828C-2890367E603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系统把一次提问，变成持续更新的学习服务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A9DB36-B5C8-4A15-98DB-75A81D032FCC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523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从画像开始，经过规划、资源、答疑和测评。</a:t>
            </a:r>
          </a:p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再把反馈写回画像。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C58F94-D3F4-4B2A-B9D7-3476A2C6F393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57150" cy="11049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64D258-CFA4-47AE-8771-DA80E0A0B33D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55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不是一次性生成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612AC3-FDAB-47B2-B8A0-00FD4AAD4393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455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每一步都读取上一步的状态，并留下可追溯的运行记录。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3B71CD-6B35-467C-A90C-D1929EF1972A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57150" cy="11049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CA325D-465D-48CD-93B8-227097A93C79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455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B56E3C"/>
                </a:solidFill>
              </a:defRPr>
            </a:pPr>
            <a:r>
              <a:rPr sz="1350" b="1" i="0">
                <a:solidFill>
                  <a:srgbClr val="B56E3C"/>
                </a:solidFill>
              </a:rPr>
              <a:t>不是通用聊天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60AFFC-9C68-4236-B07D-C6D5CDD32674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455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回答和资源都尽量落在课程资料、路径节点与学生画像内。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20EE707-2E6C-43C0-A9EC-36243BA3E9EB}"/>
              </a:ext>
            </a:extLst>
          </p:cNvPr>
          <p:cNvSpPr>
            <a:spLocks noGrp="1"/>
          </p:cNvSpPr>
          <p:nvPr/>
        </p:nvSpPr>
        <p:spPr>
          <a:xfrm>
            <a:off x="6019800" y="1447800"/>
            <a:ext cx="56197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12118" r="12118"/>
          <a:stretch>
            <a:fillRect/>
          </a:stretch>
        </p:blipFill>
        <p:spPr>
          <a:xfrm>
            <a:off x="6115050" y="1543050"/>
            <a:ext cx="5429250" cy="4286250"/>
          </a:xfrm>
          <a:prstGeom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213728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0154CB6C-CE69-4525-9020-C85EABD6836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学习闭环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A5882C-0EF0-4ECC-8144-8CEA681CC981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92F053-02DC-4168-AA0E-A9C6F8223D64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端到端流程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5289B6-524D-4F64-8BFC-DB7683C88CB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画像、路径、资源和评价组成一条可回流的链路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4F454B-E292-4E0B-9633-846A36942157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F6F62"/>
                </a:solidFill>
              </a:defRPr>
            </a:pPr>
            <a:r>
              <a:rPr sz="1275" b="1" i="0">
                <a:solidFill>
                  <a:srgbClr val="2F6F62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02959F-37C9-433F-A3EA-3DA9688CF781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14211F"/>
                </a:solidFill>
              </a:defRPr>
            </a:pPr>
            <a:r>
              <a:rPr sz="2175" b="1" i="0">
                <a:solidFill>
                  <a:srgbClr val="14211F"/>
                </a:solidFill>
              </a:rPr>
              <a:t>对话画像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D83F6E-52BD-4FD5-91FB-BC9104DEDF12}"/>
              </a:ext>
            </a:extLst>
          </p:cNvPr>
          <p:cNvSpPr>
            <a:spLocks noGrp="1"/>
          </p:cNvSpPr>
          <p:nvPr/>
        </p:nvSpPr>
        <p:spPr>
          <a:xfrm>
            <a:off x="2133600" y="25717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 i="0">
                <a:solidFill>
                  <a:srgbClr val="9AABA5"/>
                </a:solidFill>
              </a:defRPr>
            </a:pPr>
            <a:r>
              <a:rPr sz="2250" b="0" i="0">
                <a:solidFill>
                  <a:srgbClr val="9AABA5"/>
                </a:solidFill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C96723-6DAE-4A21-A119-B91DC84C0874}"/>
              </a:ext>
            </a:extLst>
          </p:cNvPr>
          <p:cNvSpPr>
            <a:spLocks noGrp="1"/>
          </p:cNvSpPr>
          <p:nvPr/>
        </p:nvSpPr>
        <p:spPr>
          <a:xfrm>
            <a:off x="2514600" y="2076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F6F62"/>
                </a:solidFill>
              </a:defRPr>
            </a:pPr>
            <a:r>
              <a:rPr sz="1275" b="1" i="0">
                <a:solidFill>
                  <a:srgbClr val="2F6F62"/>
                </a:solidFill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6E0310-CF3B-4D59-89E3-7F13130D7D5B}"/>
              </a:ext>
            </a:extLst>
          </p:cNvPr>
          <p:cNvSpPr>
            <a:spLocks noGrp="1"/>
          </p:cNvSpPr>
          <p:nvPr/>
        </p:nvSpPr>
        <p:spPr>
          <a:xfrm>
            <a:off x="2514600" y="2457450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14211F"/>
                </a:solidFill>
              </a:defRPr>
            </a:pPr>
            <a:r>
              <a:rPr sz="2175" b="1" i="0">
                <a:solidFill>
                  <a:srgbClr val="14211F"/>
                </a:solidFill>
              </a:rPr>
              <a:t>课程证据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952A0B-C2CD-44F9-8180-D135CA4827F2}"/>
              </a:ext>
            </a:extLst>
          </p:cNvPr>
          <p:cNvSpPr>
            <a:spLocks noGrp="1"/>
          </p:cNvSpPr>
          <p:nvPr/>
        </p:nvSpPr>
        <p:spPr>
          <a:xfrm>
            <a:off x="3943350" y="25717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 i="0">
                <a:solidFill>
                  <a:srgbClr val="9AABA5"/>
                </a:solidFill>
              </a:defRPr>
            </a:pPr>
            <a:r>
              <a:rPr sz="2250" b="0" i="0">
                <a:solidFill>
                  <a:srgbClr val="9AABA5"/>
                </a:solidFill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0474F0-539D-4D4F-9B04-FDB0815CC652}"/>
              </a:ext>
            </a:extLst>
          </p:cNvPr>
          <p:cNvSpPr>
            <a:spLocks noGrp="1"/>
          </p:cNvSpPr>
          <p:nvPr/>
        </p:nvSpPr>
        <p:spPr>
          <a:xfrm>
            <a:off x="4324350" y="2076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F6F62"/>
                </a:solidFill>
              </a:defRPr>
            </a:pPr>
            <a:r>
              <a:rPr sz="1275" b="1" i="0">
                <a:solidFill>
                  <a:srgbClr val="2F6F62"/>
                </a:solidFill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0093FE-65CE-466A-8505-0D279AB7CC04}"/>
              </a:ext>
            </a:extLst>
          </p:cNvPr>
          <p:cNvSpPr>
            <a:spLocks noGrp="1"/>
          </p:cNvSpPr>
          <p:nvPr/>
        </p:nvSpPr>
        <p:spPr>
          <a:xfrm>
            <a:off x="4324350" y="2457450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14211F"/>
                </a:solidFill>
              </a:defRPr>
            </a:pPr>
            <a:r>
              <a:rPr sz="2175" b="1" i="0">
                <a:solidFill>
                  <a:srgbClr val="14211F"/>
                </a:solidFill>
              </a:rPr>
              <a:t>学习路径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A61410-F460-4F5A-B937-8123F9763370}"/>
              </a:ext>
            </a:extLst>
          </p:cNvPr>
          <p:cNvSpPr>
            <a:spLocks noGrp="1"/>
          </p:cNvSpPr>
          <p:nvPr/>
        </p:nvSpPr>
        <p:spPr>
          <a:xfrm>
            <a:off x="5753100" y="25717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 i="0">
                <a:solidFill>
                  <a:srgbClr val="9AABA5"/>
                </a:solidFill>
              </a:defRPr>
            </a:pPr>
            <a:r>
              <a:rPr sz="2250" b="0" i="0">
                <a:solidFill>
                  <a:srgbClr val="9AABA5"/>
                </a:solidFill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F15E8E-44BF-444C-A6D0-143E051E38D9}"/>
              </a:ext>
            </a:extLst>
          </p:cNvPr>
          <p:cNvSpPr>
            <a:spLocks noGrp="1"/>
          </p:cNvSpPr>
          <p:nvPr/>
        </p:nvSpPr>
        <p:spPr>
          <a:xfrm>
            <a:off x="6134100" y="2076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F6F62"/>
                </a:solidFill>
              </a:defRPr>
            </a:pPr>
            <a:r>
              <a:rPr sz="1275" b="1" i="0">
                <a:solidFill>
                  <a:srgbClr val="2F6F62"/>
                </a:solidFill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EB14F8-EB47-43AF-825F-CE04F8CB7028}"/>
              </a:ext>
            </a:extLst>
          </p:cNvPr>
          <p:cNvSpPr>
            <a:spLocks noGrp="1"/>
          </p:cNvSpPr>
          <p:nvPr/>
        </p:nvSpPr>
        <p:spPr>
          <a:xfrm>
            <a:off x="6134100" y="2457450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14211F"/>
                </a:solidFill>
              </a:defRPr>
            </a:pPr>
            <a:r>
              <a:rPr sz="2175" b="1" i="0">
                <a:solidFill>
                  <a:srgbClr val="14211F"/>
                </a:solidFill>
              </a:rPr>
              <a:t>资源 / 答疑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08E5EA-4E0D-45C8-A9C9-EE76A5DB41E2}"/>
              </a:ext>
            </a:extLst>
          </p:cNvPr>
          <p:cNvSpPr>
            <a:spLocks noGrp="1"/>
          </p:cNvSpPr>
          <p:nvPr/>
        </p:nvSpPr>
        <p:spPr>
          <a:xfrm>
            <a:off x="7562850" y="25717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 i="0">
                <a:solidFill>
                  <a:srgbClr val="9AABA5"/>
                </a:solidFill>
              </a:defRPr>
            </a:pPr>
            <a:r>
              <a:rPr sz="2250" b="0" i="0">
                <a:solidFill>
                  <a:srgbClr val="9AABA5"/>
                </a:solidFill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E0E79B-EB2F-43AB-B186-5E27A5A0A5BC}"/>
              </a:ext>
            </a:extLst>
          </p:cNvPr>
          <p:cNvSpPr>
            <a:spLocks noGrp="1"/>
          </p:cNvSpPr>
          <p:nvPr/>
        </p:nvSpPr>
        <p:spPr>
          <a:xfrm>
            <a:off x="7943850" y="2076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F6F62"/>
                </a:solidFill>
              </a:defRPr>
            </a:pPr>
            <a:r>
              <a:rPr sz="1275" b="1" i="0">
                <a:solidFill>
                  <a:srgbClr val="2F6F62"/>
                </a:solidFill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2E4ED8-AD5F-4B13-BCF3-CA1F59B5DC47}"/>
              </a:ext>
            </a:extLst>
          </p:cNvPr>
          <p:cNvSpPr>
            <a:spLocks noGrp="1"/>
          </p:cNvSpPr>
          <p:nvPr/>
        </p:nvSpPr>
        <p:spPr>
          <a:xfrm>
            <a:off x="7943850" y="2457450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14211F"/>
                </a:solidFill>
              </a:defRPr>
            </a:pPr>
            <a:r>
              <a:rPr sz="2175" b="1" i="0">
                <a:solidFill>
                  <a:srgbClr val="14211F"/>
                </a:solidFill>
              </a:rPr>
              <a:t>测验评价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603B79-2C75-4B95-8D7C-0EE1C91F0C01}"/>
              </a:ext>
            </a:extLst>
          </p:cNvPr>
          <p:cNvSpPr>
            <a:spLocks noGrp="1"/>
          </p:cNvSpPr>
          <p:nvPr/>
        </p:nvSpPr>
        <p:spPr>
          <a:xfrm>
            <a:off x="9372600" y="25717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 i="0">
                <a:solidFill>
                  <a:srgbClr val="9AABA5"/>
                </a:solidFill>
              </a:defRPr>
            </a:pPr>
            <a:r>
              <a:rPr sz="2250" b="0" i="0">
                <a:solidFill>
                  <a:srgbClr val="9AABA5"/>
                </a:solidFill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EA91BB-8555-480E-8452-DBF5B6AC3D97}"/>
              </a:ext>
            </a:extLst>
          </p:cNvPr>
          <p:cNvSpPr>
            <a:spLocks noGrp="1"/>
          </p:cNvSpPr>
          <p:nvPr/>
        </p:nvSpPr>
        <p:spPr>
          <a:xfrm>
            <a:off x="9753600" y="2076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F6F62"/>
                </a:solidFill>
              </a:defRPr>
            </a:pPr>
            <a:r>
              <a:rPr sz="1275" b="1" i="0">
                <a:solidFill>
                  <a:srgbClr val="2F6F62"/>
                </a:solidFill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A9F900-0164-460B-862B-818380CCC1B9}"/>
              </a:ext>
            </a:extLst>
          </p:cNvPr>
          <p:cNvSpPr>
            <a:spLocks noGrp="1"/>
          </p:cNvSpPr>
          <p:nvPr/>
        </p:nvSpPr>
        <p:spPr>
          <a:xfrm>
            <a:off x="9753600" y="2457450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14211F"/>
                </a:solidFill>
              </a:defRPr>
            </a:pPr>
            <a:r>
              <a:rPr sz="2175" b="1" i="0">
                <a:solidFill>
                  <a:srgbClr val="14211F"/>
                </a:solidFill>
              </a:rPr>
              <a:t>画像更新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6070A0-0AD8-40CE-B539-017A168C0012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10382250" cy="381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82DF1A-69A3-480C-9A08-317FF6DE4B28}"/>
              </a:ext>
            </a:extLst>
          </p:cNvPr>
          <p:cNvSpPr>
            <a:spLocks noGrp="1"/>
          </p:cNvSpPr>
          <p:nvPr/>
        </p:nvSpPr>
        <p:spPr>
          <a:xfrm>
            <a:off x="2571750" y="4095750"/>
            <a:ext cx="704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214E45"/>
                </a:solidFill>
              </a:defRPr>
            </a:pPr>
            <a:r>
              <a:rPr sz="2400" b="1" i="0">
                <a:solidFill>
                  <a:srgbClr val="214E45"/>
                </a:solidFill>
              </a:rPr>
              <a:t>反馈不是附加功能，而是下一轮规划的输入。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BB419A-5F87-4DEF-8305-FB7E55E54AD1}"/>
              </a:ext>
            </a:extLst>
          </p:cNvPr>
          <p:cNvSpPr>
            <a:spLocks noGrp="1"/>
          </p:cNvSpPr>
          <p:nvPr/>
        </p:nvSpPr>
        <p:spPr>
          <a:xfrm>
            <a:off x="2571750" y="476250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Agent trace 同时记录输入摘要、输出摘要与决策依据。</a:t>
            </a:r>
          </a:p>
        </p:txBody>
      </p:sp>
    </p:spTree>
    <p:extLst>
      <p:ext uri="{BB962C8B-B14F-4D97-AF65-F5344CB8AC3E}">
        <p14:creationId xmlns:p14="http://schemas.microsoft.com/office/powerpoint/2010/main" val="83403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EBFBA53-A563-4519-A3B6-27796F8CFD8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真实前端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C6E740-D57E-4FDC-9727-C2C9B24D40BC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4736E8-7983-4D11-801F-90E28E56B672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产品入口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069FF8-123C-484F-B4DF-70EE4F4FDE5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工作台只回答一个问题：下一步做什么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014E053-A000-4600-A280-B8E0BDFC687A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8001000" cy="46482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2291" b="2291"/>
          <a:stretch>
            <a:fillRect/>
          </a:stretch>
        </p:blipFill>
        <p:spPr>
          <a:xfrm>
            <a:off x="609600" y="1524000"/>
            <a:ext cx="7810500" cy="4457700"/>
          </a:xfrm>
          <a:prstGeom prst="roundRect">
            <a:avLst>
              <a:gd name="adj" fmla="val 2564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D34AF71-403A-478E-99D9-A397689D7444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57150" cy="131445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15C8D9-BA16-4201-BD41-864711003C45}"/>
              </a:ext>
            </a:extLst>
          </p:cNvPr>
          <p:cNvSpPr>
            <a:spLocks noGrp="1"/>
          </p:cNvSpPr>
          <p:nvPr/>
        </p:nvSpPr>
        <p:spPr>
          <a:xfrm>
            <a:off x="9067800" y="18669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当前状态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C33346-9B2B-4E3D-A8F4-C81FC13451CA}"/>
              </a:ext>
            </a:extLst>
          </p:cNvPr>
          <p:cNvSpPr>
            <a:spLocks noGrp="1"/>
          </p:cNvSpPr>
          <p:nvPr/>
        </p:nvSpPr>
        <p:spPr>
          <a:xfrm>
            <a:off x="9067800" y="2247900"/>
            <a:ext cx="2362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课程、画像、进度与节点状态集中呈现。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3026E0-121A-4E37-AC73-5B0BCB194639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57150" cy="131445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351C23-D24B-42D6-905C-92912EE59658}"/>
              </a:ext>
            </a:extLst>
          </p:cNvPr>
          <p:cNvSpPr>
            <a:spLocks noGrp="1"/>
          </p:cNvSpPr>
          <p:nvPr/>
        </p:nvSpPr>
        <p:spPr>
          <a:xfrm>
            <a:off x="9067800" y="36957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B56E3C"/>
                </a:solidFill>
              </a:defRPr>
            </a:pPr>
            <a:r>
              <a:rPr sz="1350" b="1" i="0">
                <a:solidFill>
                  <a:srgbClr val="B56E3C"/>
                </a:solidFill>
              </a:rPr>
              <a:t>下一步建议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30F42-40DA-461F-9D9C-FEB3CBF34287}"/>
              </a:ext>
            </a:extLst>
          </p:cNvPr>
          <p:cNvSpPr>
            <a:spLocks noGrp="1"/>
          </p:cNvSpPr>
          <p:nvPr/>
        </p:nvSpPr>
        <p:spPr>
          <a:xfrm>
            <a:off x="9067800" y="4076700"/>
            <a:ext cx="2362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系统按现有状态给出后续操作建议。</a:t>
            </a:r>
          </a:p>
        </p:txBody>
      </p:sp>
    </p:spTree>
    <p:extLst>
      <p:ext uri="{BB962C8B-B14F-4D97-AF65-F5344CB8AC3E}">
        <p14:creationId xmlns:p14="http://schemas.microsoft.com/office/powerpoint/2010/main" val="52627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C75CF20-D563-4709-8406-8E5239F49BB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学生画像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A277FD-2E0F-48EC-918A-1FF460CE553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0F51CB-926F-4F1D-B8BD-15588E4B20B2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六维动态画像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9D04C8-01AC-482D-B7E4-FD52BC2F98A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六个维度让“个性化”有可计算的输入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D87BEBA-FF13-477B-9762-E02BB9A93CEC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77152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2384" b="2384"/>
          <a:stretch>
            <a:fillRect/>
          </a:stretch>
        </p:blipFill>
        <p:spPr>
          <a:xfrm>
            <a:off x="609600" y="1581150"/>
            <a:ext cx="752475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425CEC-4BB6-4A37-AE98-8B13893700D7}"/>
              </a:ext>
            </a:extLst>
          </p:cNvPr>
          <p:cNvSpPr>
            <a:spLocks noGrp="1"/>
          </p:cNvSpPr>
          <p:nvPr/>
        </p:nvSpPr>
        <p:spPr>
          <a:xfrm>
            <a:off x="8572500" y="16573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14E45"/>
                </a:solidFill>
              </a:defRPr>
            </a:pPr>
            <a:r>
              <a:rPr sz="1875" b="1" i="0">
                <a:solidFill>
                  <a:srgbClr val="214E45"/>
                </a:solidFill>
              </a:rPr>
              <a:t>学习目标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8C01C-4501-484E-8DD0-CDF9199D0F4D}"/>
              </a:ext>
            </a:extLst>
          </p:cNvPr>
          <p:cNvSpPr>
            <a:spLocks noGrp="1"/>
          </p:cNvSpPr>
          <p:nvPr/>
        </p:nvSpPr>
        <p:spPr>
          <a:xfrm>
            <a:off x="8572500" y="23050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知识基础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2BC78B-3E43-4AFC-96E6-2A98ADD74C46}"/>
              </a:ext>
            </a:extLst>
          </p:cNvPr>
          <p:cNvSpPr>
            <a:spLocks noGrp="1"/>
          </p:cNvSpPr>
          <p:nvPr/>
        </p:nvSpPr>
        <p:spPr>
          <a:xfrm>
            <a:off x="8572500" y="29527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认知风格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7F05AF-66B6-4E7A-963A-881A160CBCE4}"/>
              </a:ext>
            </a:extLst>
          </p:cNvPr>
          <p:cNvSpPr>
            <a:spLocks noGrp="1"/>
          </p:cNvSpPr>
          <p:nvPr/>
        </p:nvSpPr>
        <p:spPr>
          <a:xfrm>
            <a:off x="8572500" y="36004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可用时间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EFE2E1-CD1F-4B83-8E2D-D4A11FC5D1C6}"/>
              </a:ext>
            </a:extLst>
          </p:cNvPr>
          <p:cNvSpPr>
            <a:spLocks noGrp="1"/>
          </p:cNvSpPr>
          <p:nvPr/>
        </p:nvSpPr>
        <p:spPr>
          <a:xfrm>
            <a:off x="8572500" y="42481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14E45"/>
                </a:solidFill>
              </a:defRPr>
            </a:pPr>
            <a:r>
              <a:rPr sz="1875" b="1" i="0">
                <a:solidFill>
                  <a:srgbClr val="214E45"/>
                </a:solidFill>
              </a:rPr>
              <a:t>易错短板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687193-0862-4F37-9987-06EDF59703BC}"/>
              </a:ext>
            </a:extLst>
          </p:cNvPr>
          <p:cNvSpPr>
            <a:spLocks noGrp="1"/>
          </p:cNvSpPr>
          <p:nvPr/>
        </p:nvSpPr>
        <p:spPr>
          <a:xfrm>
            <a:off x="8572500" y="48958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资源偏好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C18394-08E2-4C4A-BCD4-186FD5FCAEEB}"/>
              </a:ext>
            </a:extLst>
          </p:cNvPr>
          <p:cNvSpPr>
            <a:spLocks noGrp="1"/>
          </p:cNvSpPr>
          <p:nvPr/>
        </p:nvSpPr>
        <p:spPr>
          <a:xfrm>
            <a:off x="8572500" y="56388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画像变化历史保留前后差异与生成依据。</a:t>
            </a:r>
          </a:p>
        </p:txBody>
      </p:sp>
    </p:spTree>
    <p:extLst>
      <p:ext uri="{BB962C8B-B14F-4D97-AF65-F5344CB8AC3E}">
        <p14:creationId xmlns:p14="http://schemas.microsoft.com/office/powerpoint/2010/main" val="53276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C5C46FC-F1DC-4D5E-9DF6-1BB9E277B4F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FB5440-6DE0-46D4-A497-2EB4CD36669E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80E343-212D-4151-A1BB-E6434086262B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profile_builder.py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B0F69F-98ED-47DA-9434-B5F12475BAF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画像不是标签页，而是一组可落库的字段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B5386EB-1E6A-4A9A-9225-BA2366C2DB5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3D92C7-2735-42EF-9571-41C582C20E4A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src/backend/app/services/profile_builder.py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497D9F-B66E-4BC4-A09D-929BEFDF13E3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9FD252-0CC1-4761-87EB-FDD3D00D47C2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PROFILE_DIMENSION_KEYS = [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"learning_goal", "foundation_level",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"learning_preference", "available_time",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"weak_points", "resource_preference",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]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profile = StudentProfileCreate(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profile_type=_infer_profile_type(text),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goal=_infer_goal(text),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level=_infer_level(text),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time_budget=_infer_time_budget(text),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return normalize_profile_dimensions(profile)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B81E0D-D1C4-4177-8125-423AEBC13628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真实源码节选：六维字段进入统一画像结构，后续服务按字段读取。</a:t>
            </a:r>
          </a:p>
        </p:txBody>
      </p:sp>
    </p:spTree>
    <p:extLst>
      <p:ext uri="{BB962C8B-B14F-4D97-AF65-F5344CB8AC3E}">
        <p14:creationId xmlns:p14="http://schemas.microsoft.com/office/powerpoint/2010/main" val="788339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6B01456-211A-4F51-A731-B5B3D63F2DB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多智能体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FFD50-FA75-4FB8-9B69-C203085FED0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8B211C-D121-4A0F-844F-C2EBAF636E21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设计取舍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3371-7055-40EA-B3AC-0BB9A9E6FCB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复杂任务不交给一个长提示词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AC5474-6613-4F9D-A5BD-54A3408E8F80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 i="0">
                <a:solidFill>
                  <a:srgbClr val="65716D"/>
                </a:solidFill>
              </a:defRPr>
            </a:pPr>
            <a:r>
              <a:rPr sz="3000" b="1" i="0">
                <a:solidFill>
                  <a:srgbClr val="65716D"/>
                </a:solidFill>
              </a:rPr>
              <a:t>单 Agent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9E0AE6-BD2B-4C09-A608-6E41F3CE2BDF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4000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65716D"/>
                </a:solidFill>
              </a:defRPr>
            </a:pPr>
            <a:r>
              <a:rPr sz="1875" b="0" i="0">
                <a:solidFill>
                  <a:srgbClr val="65716D"/>
                </a:solidFill>
              </a:rPr>
              <a:t>检索、规划、生成、评价混在一次调用里</a:t>
            </a:r>
          </a:p>
          <a:p>
            <a:pPr algn="l">
              <a:defRPr sz="1875" b="0" i="0">
                <a:solidFill>
                  <a:srgbClr val="65716D"/>
                </a:solidFill>
              </a:defRPr>
            </a:pPr>
            <a:r>
              <a:rPr sz="1875" b="0" i="0">
                <a:solidFill>
                  <a:srgbClr val="65716D"/>
                </a:solidFill>
              </a:rPr>
              <a:t>边界模糊，失败原因难定位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9B4D0D-D870-4469-B76C-C86A35D01ED1}"/>
              </a:ext>
            </a:extLst>
          </p:cNvPr>
          <p:cNvSpPr>
            <a:spLocks noGrp="1"/>
          </p:cNvSpPr>
          <p:nvPr/>
        </p:nvSpPr>
        <p:spPr>
          <a:xfrm>
            <a:off x="6762750" y="203835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 i="0">
                <a:solidFill>
                  <a:srgbClr val="214E45"/>
                </a:solidFill>
              </a:defRPr>
            </a:pPr>
            <a:r>
              <a:rPr sz="3000" b="1" i="0">
                <a:solidFill>
                  <a:srgbClr val="214E45"/>
                </a:solidFill>
              </a:rPr>
              <a:t>多智能体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366222-C8D7-4EE3-AEF0-089DAA3F932E}"/>
              </a:ext>
            </a:extLst>
          </p:cNvPr>
          <p:cNvSpPr>
            <a:spLocks noGrp="1"/>
          </p:cNvSpPr>
          <p:nvPr/>
        </p:nvSpPr>
        <p:spPr>
          <a:xfrm>
            <a:off x="6762750" y="2838450"/>
            <a:ext cx="4381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每个角色只拥有完成本职任务的工具</a:t>
            </a:r>
          </a:p>
          <a:p>
            <a:pPr algn="l">
              <a:defRPr sz="1875" b="0" i="0">
                <a:solidFill>
                  <a:srgbClr val="14211F"/>
                </a:solidFill>
              </a:defRPr>
            </a:pPr>
            <a:r>
              <a:rPr sz="1875" b="0" i="0">
                <a:solidFill>
                  <a:srgbClr val="14211F"/>
                </a:solidFill>
              </a:rPr>
              <a:t>运行顺序、依据与回退过程可追溯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AFC411-B5B1-46F9-94DE-86F3FF71F15B}"/>
              </a:ext>
            </a:extLst>
          </p:cNvPr>
          <p:cNvSpPr>
            <a:spLocks noGrp="1"/>
          </p:cNvSpPr>
          <p:nvPr/>
        </p:nvSpPr>
        <p:spPr>
          <a:xfrm>
            <a:off x="5429250" y="27051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0" i="0">
                <a:solidFill>
                  <a:srgbClr val="2F6F62"/>
                </a:solidFill>
              </a:defRPr>
            </a:pPr>
            <a:r>
              <a:rPr sz="4500" b="0" i="0">
                <a:solidFill>
                  <a:srgbClr val="2F6F62"/>
                </a:solidFill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655417-C3A3-42A6-BD11-BE0BFCCD6CF9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57150" cy="9525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3AB199-A487-45CB-B9A3-8F35B94C7B4B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核心原则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2B494C-AFF5-45BA-B0DC-83C4EBA11819}"/>
              </a:ext>
            </a:extLst>
          </p:cNvPr>
          <p:cNvSpPr>
            <a:spLocks noGrp="1"/>
          </p:cNvSpPr>
          <p:nvPr/>
        </p:nvSpPr>
        <p:spPr>
          <a:xfrm>
            <a:off x="1047750" y="512445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调度负责拆任务，专职智能体负责完成任务；共享的是状态，不是无限权限。</a:t>
            </a:r>
          </a:p>
        </p:txBody>
      </p:sp>
    </p:spTree>
    <p:extLst>
      <p:ext uri="{BB962C8B-B14F-4D97-AF65-F5344CB8AC3E}">
        <p14:creationId xmlns:p14="http://schemas.microsoft.com/office/powerpoint/2010/main" val="4379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33C0930-2039-437C-B7FE-44EBF85FF00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多智能体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E5C6BF-BAA9-4FCB-8999-68677E893DDF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EBC735-2ED4-40AA-AE91-4A9CABDC800A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协作层次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8DC30E-B562-4456-8A08-C6605C8BBFE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调度层分配任务，专职智能体完成工作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BA927C4-57DA-4B21-A6C5-E97F0170E973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10858500" cy="781050"/>
          </a:xfrm>
          <a:prstGeom prst="roundRect">
            <a:avLst>
              <a:gd name="adj" fmla="val 14634"/>
            </a:avLst>
          </a:prstGeom>
          <a:solidFill>
            <a:srgbClr val="E6F0EB"/>
          </a:solidFill>
          <a:ln w="9525">
            <a:solidFill>
              <a:srgbClr val="DCE3D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F1C2EF-DB39-4C75-B7C8-CF65D39FC5DD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214E45"/>
                </a:solidFill>
              </a:defRPr>
            </a:pPr>
            <a:r>
              <a:rPr sz="2250" b="1" i="0">
                <a:solidFill>
                  <a:srgbClr val="214E45"/>
                </a:solidFill>
              </a:rPr>
              <a:t>学习调度员 / Router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8084E8-7843-458D-9E2E-1B4C1606C857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画像顾问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9B8C3-5665-4D29-8D65-1811653B7FE5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781050" cy="381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5B4212-6745-4107-9C72-144046C58FD0}"/>
              </a:ext>
            </a:extLst>
          </p:cNvPr>
          <p:cNvSpPr>
            <a:spLocks noGrp="1"/>
          </p:cNvSpPr>
          <p:nvPr/>
        </p:nvSpPr>
        <p:spPr>
          <a:xfrm>
            <a:off x="220980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资料管理员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2D69D7-1EAB-4AC4-A544-CC95EDB60176}"/>
              </a:ext>
            </a:extLst>
          </p:cNvPr>
          <p:cNvSpPr>
            <a:spLocks noGrp="1"/>
          </p:cNvSpPr>
          <p:nvPr/>
        </p:nvSpPr>
        <p:spPr>
          <a:xfrm>
            <a:off x="2533650" y="3848100"/>
            <a:ext cx="781050" cy="381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DD9174-446E-49FA-B48C-C7334E960A4F}"/>
              </a:ext>
            </a:extLst>
          </p:cNvPr>
          <p:cNvSpPr>
            <a:spLocks noGrp="1"/>
          </p:cNvSpPr>
          <p:nvPr/>
        </p:nvSpPr>
        <p:spPr>
          <a:xfrm>
            <a:off x="375285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学习规划师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34AA71-1A8A-45A8-8FB3-B1FFAAA76359}"/>
              </a:ext>
            </a:extLst>
          </p:cNvPr>
          <p:cNvSpPr>
            <a:spLocks noGrp="1"/>
          </p:cNvSpPr>
          <p:nvPr/>
        </p:nvSpPr>
        <p:spPr>
          <a:xfrm>
            <a:off x="4076700" y="3848100"/>
            <a:ext cx="781050" cy="381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FC9F69-9FD2-4400-B880-837157E95A80}"/>
              </a:ext>
            </a:extLst>
          </p:cNvPr>
          <p:cNvSpPr>
            <a:spLocks noGrp="1"/>
          </p:cNvSpPr>
          <p:nvPr/>
        </p:nvSpPr>
        <p:spPr>
          <a:xfrm>
            <a:off x="529590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资源设计师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786238-DDD9-48B9-818A-B2687E9A4626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781050" cy="381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6A9A7D-514A-4CAA-8A46-BDB874B76D2E}"/>
              </a:ext>
            </a:extLst>
          </p:cNvPr>
          <p:cNvSpPr>
            <a:spLocks noGrp="1"/>
          </p:cNvSpPr>
          <p:nvPr/>
        </p:nvSpPr>
        <p:spPr>
          <a:xfrm>
            <a:off x="683895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答疑教师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057C35-3656-468D-93BA-D526A1B3434F}"/>
              </a:ext>
            </a:extLst>
          </p:cNvPr>
          <p:cNvSpPr>
            <a:spLocks noGrp="1"/>
          </p:cNvSpPr>
          <p:nvPr/>
        </p:nvSpPr>
        <p:spPr>
          <a:xfrm>
            <a:off x="7162800" y="3848100"/>
            <a:ext cx="781050" cy="381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8C92D1-AEAB-4495-B588-C371991BF967}"/>
              </a:ext>
            </a:extLst>
          </p:cNvPr>
          <p:cNvSpPr>
            <a:spLocks noGrp="1"/>
          </p:cNvSpPr>
          <p:nvPr/>
        </p:nvSpPr>
        <p:spPr>
          <a:xfrm>
            <a:off x="838200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出题教师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93CD8C-371E-4A08-9007-B1AD7EAFA136}"/>
              </a:ext>
            </a:extLst>
          </p:cNvPr>
          <p:cNvSpPr>
            <a:spLocks noGrp="1"/>
          </p:cNvSpPr>
          <p:nvPr/>
        </p:nvSpPr>
        <p:spPr>
          <a:xfrm>
            <a:off x="8705850" y="3848100"/>
            <a:ext cx="781050" cy="381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D822DC-45F2-4F0A-944F-FC5B26597754}"/>
              </a:ext>
            </a:extLst>
          </p:cNvPr>
          <p:cNvSpPr>
            <a:spLocks noGrp="1"/>
          </p:cNvSpPr>
          <p:nvPr/>
        </p:nvSpPr>
        <p:spPr>
          <a:xfrm>
            <a:off x="9925050" y="3009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4211F"/>
                </a:solidFill>
              </a:defRPr>
            </a:pPr>
            <a:r>
              <a:rPr sz="1800" b="1" i="0">
                <a:solidFill>
                  <a:srgbClr val="14211F"/>
                </a:solidFill>
              </a:rPr>
              <a:t>测评教师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EF7D64-15B7-4DC4-B0A0-161952943F22}"/>
              </a:ext>
            </a:extLst>
          </p:cNvPr>
          <p:cNvSpPr>
            <a:spLocks noGrp="1"/>
          </p:cNvSpPr>
          <p:nvPr/>
        </p:nvSpPr>
        <p:spPr>
          <a:xfrm>
            <a:off x="10248900" y="3848100"/>
            <a:ext cx="781050" cy="381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4175925-4D68-43D2-9A66-53D758D7D691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108585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C39E39-82DA-402D-8697-5D4C48E3B434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 i="0">
                <a:solidFill>
                  <a:srgbClr val="14211F"/>
                </a:solidFill>
              </a:defRPr>
            </a:pPr>
            <a:r>
              <a:rPr sz="2025" b="0" i="0">
                <a:solidFill>
                  <a:srgbClr val="14211F"/>
                </a:solidFill>
              </a:rPr>
              <a:t>共享状态：学生画像 · 课程知识库 · 学习路径 · Agent trace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0AC9A5-5A09-47E4-AF7B-80802CB432FC}"/>
              </a:ext>
            </a:extLst>
          </p:cNvPr>
          <p:cNvSpPr>
            <a:spLocks noGrp="1"/>
          </p:cNvSpPr>
          <p:nvPr/>
        </p:nvSpPr>
        <p:spPr>
          <a:xfrm>
            <a:off x="2286000" y="57721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角色名称面向教学场景，底层仍保留清晰的 Agent 与工具边界。</a:t>
            </a:r>
          </a:p>
        </p:txBody>
      </p:sp>
    </p:spTree>
    <p:extLst>
      <p:ext uri="{BB962C8B-B14F-4D97-AF65-F5344CB8AC3E}">
        <p14:creationId xmlns:p14="http://schemas.microsoft.com/office/powerpoint/2010/main" val="140248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AD8AFC6-6198-4059-8022-E37671644CE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A2CE9D-7ECA-4C22-B211-CF59727DA7C1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8D3E6C-5E65-4811-99E5-565C44AA0F3C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router_agent.py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DE8C10-3EA6-44C8-AA8F-F08A599BCD8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工具权限写在路由策略里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7A81975-2AC7-4A9C-86C5-09D28DD4DE0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069B2D-9BEF-4806-ACDA-F2F760DC4465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src/backend/app/agents/router_agent.py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B0B9C7-96B4-4F00-AF3A-C1C5372A9AFD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7B5228-50FE-4251-9747-72EBB48328C8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AGENT_TOOL_POLICY = {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"retriever": ("knowledge_search", "source_ref_extraction"),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"resource": ("resource_generation", "markdown_formatting"),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"tutor": ("grounded_answering", "citation_validation"),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"evaluator": ("rubric_scoring", "critic_review", "mastery_update"),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}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return RouterDecision(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intent="answer_grounded_question",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target_agent="tutor",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support_agents=["retriever"],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required_tools=[*AGENT_TOOL_POLICY["retriever"],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            *AGENT_TOOL_POLICY["tutor"]],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constraints={"grounding_required": True},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0BC9E2-FCE2-46A5-91E6-EFEE7F331C29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Router 输出结构化决策，而不是直接代替业务 Agent 完成任务。</a:t>
            </a:r>
          </a:p>
        </p:txBody>
      </p:sp>
    </p:spTree>
    <p:extLst>
      <p:ext uri="{BB962C8B-B14F-4D97-AF65-F5344CB8AC3E}">
        <p14:creationId xmlns:p14="http://schemas.microsoft.com/office/powerpoint/2010/main" val="98082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6260380-AD21-43FB-86A3-E4C094D31EE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F0AB4E-119E-418A-A412-AC69025BCDBF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24DFCD-F62F-4EF9-9F36-6F6CA37D17E1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llm_provider.py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204A87-52AF-4ECF-B3BB-8BE82E88F5E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模型接入保持可插拔，异常时仍能继续演示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BC29277-FEB0-4CE4-BCE3-1CC3A8EECA72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DB9353-87F6-494F-8A59-1E99DF3A590C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src/backend/app/adapters/llm_provider.py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016395-B450-47FD-AF5A-EC1B5BAAD399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279A13-2D1F-4B59-9EEC-05AF9474C585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def can_call_remote(self, purpose="tutor"):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enabled = self.enable_for_tutor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if purpose == "resource":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enabled = self.enable_for_resource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elif purpose == "evaluator":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enabled = self.enable_for_evaluator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return 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self.provider == "openai_compatible"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and enabled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and bool(self.base_url)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and bool(self.api_key)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and bool(self.model)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)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# request payload keeps temperature at 0.2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853C88-8DA3-4C86-A010-FEB92A6EDC93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部署配置接入科大讯飞星火平台；适配器把具体模型与业务服务隔离。</a:t>
            </a:r>
          </a:p>
        </p:txBody>
      </p:sp>
    </p:spTree>
    <p:extLst>
      <p:ext uri="{BB962C8B-B14F-4D97-AF65-F5344CB8AC3E}">
        <p14:creationId xmlns:p14="http://schemas.microsoft.com/office/powerpoint/2010/main" val="177551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2EB9F9A-8549-45D1-9B84-CEACA5F22F3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学习路径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7E10D5-0D57-44F2-9706-F2FAA17109B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796CC0-7B9E-4049-AF18-90833FCCA494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Planner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7D02FC-BFD6-4DC7-A7C7-3FA2AF32259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学习目标被拆成可执行、可推进的节点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E9C2A66-4178-435A-9E40-E963B1BDD2E3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80391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3334" b="3334"/>
          <a:stretch>
            <a:fillRect/>
          </a:stretch>
        </p:blipFill>
        <p:spPr>
          <a:xfrm>
            <a:off x="609600" y="1562100"/>
            <a:ext cx="7848600" cy="4381500"/>
          </a:xfrm>
          <a:prstGeom prst="roundRect">
            <a:avLst>
              <a:gd name="adj" fmla="val 2609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2775FF4-DC6A-4790-9336-1E62874AA8E9}"/>
              </a:ext>
            </a:extLst>
          </p:cNvPr>
          <p:cNvSpPr>
            <a:spLocks noGrp="1"/>
          </p:cNvSpPr>
          <p:nvPr/>
        </p:nvSpPr>
        <p:spPr>
          <a:xfrm>
            <a:off x="8858250" y="1790700"/>
            <a:ext cx="57150" cy="10287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462614-3D55-4776-A28B-7074B068FB37}"/>
              </a:ext>
            </a:extLst>
          </p:cNvPr>
          <p:cNvSpPr>
            <a:spLocks noGrp="1"/>
          </p:cNvSpPr>
          <p:nvPr/>
        </p:nvSpPr>
        <p:spPr>
          <a:xfrm>
            <a:off x="9067800" y="17716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C56BD5-DFDD-4AEB-998F-F0AABE8CF4ED}"/>
              </a:ext>
            </a:extLst>
          </p:cNvPr>
          <p:cNvSpPr>
            <a:spLocks noGrp="1"/>
          </p:cNvSpPr>
          <p:nvPr/>
        </p:nvSpPr>
        <p:spPr>
          <a:xfrm>
            <a:off x="9067800" y="2152650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学生画像、课程、学习目标与可用时间。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6CBD55-D4AA-49DA-BA78-D45823E53C94}"/>
              </a:ext>
            </a:extLst>
          </p:cNvPr>
          <p:cNvSpPr>
            <a:spLocks noGrp="1"/>
          </p:cNvSpPr>
          <p:nvPr/>
        </p:nvSpPr>
        <p:spPr>
          <a:xfrm>
            <a:off x="8858250" y="3257550"/>
            <a:ext cx="57150" cy="10287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7DAB60-7F27-458A-9D8D-0B176024520A}"/>
              </a:ext>
            </a:extLst>
          </p:cNvPr>
          <p:cNvSpPr>
            <a:spLocks noGrp="1"/>
          </p:cNvSpPr>
          <p:nvPr/>
        </p:nvSpPr>
        <p:spPr>
          <a:xfrm>
            <a:off x="9067800" y="32385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B56E3C"/>
                </a:solidFill>
              </a:defRPr>
            </a:pPr>
            <a:r>
              <a:rPr sz="1350" b="1" i="0">
                <a:solidFill>
                  <a:srgbClr val="B56E3C"/>
                </a:solidFill>
              </a:rPr>
              <a:t>输出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F5E98F-3D39-48AF-8742-2F9FEA6536FD}"/>
              </a:ext>
            </a:extLst>
          </p:cNvPr>
          <p:cNvSpPr>
            <a:spLocks noGrp="1"/>
          </p:cNvSpPr>
          <p:nvPr/>
        </p:nvSpPr>
        <p:spPr>
          <a:xfrm>
            <a:off x="9067800" y="3619500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节点顺序、阶段目标、预计时长与当前状态。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536A69-8719-4459-BE75-E525C32A0FF4}"/>
              </a:ext>
            </a:extLst>
          </p:cNvPr>
          <p:cNvSpPr>
            <a:spLocks noGrp="1"/>
          </p:cNvSpPr>
          <p:nvPr/>
        </p:nvSpPr>
        <p:spPr>
          <a:xfrm>
            <a:off x="8858250" y="4724400"/>
            <a:ext cx="57150" cy="10287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FA1C9-F2FC-463E-A6FA-51205DD17605}"/>
              </a:ext>
            </a:extLst>
          </p:cNvPr>
          <p:cNvSpPr>
            <a:spLocks noGrp="1"/>
          </p:cNvSpPr>
          <p:nvPr/>
        </p:nvSpPr>
        <p:spPr>
          <a:xfrm>
            <a:off x="9067800" y="47053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推进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67CCB9-F6BF-4AEB-A908-E1BE7D79E0C5}"/>
              </a:ext>
            </a:extLst>
          </p:cNvPr>
          <p:cNvSpPr>
            <a:spLocks noGrp="1"/>
          </p:cNvSpPr>
          <p:nvPr/>
        </p:nvSpPr>
        <p:spPr>
          <a:xfrm>
            <a:off x="9067800" y="5086350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完成一个节点后，右侧导航同步进入下一阶段。</a:t>
            </a:r>
          </a:p>
        </p:txBody>
      </p:sp>
    </p:spTree>
    <p:extLst>
      <p:ext uri="{BB962C8B-B14F-4D97-AF65-F5344CB8AC3E}">
        <p14:creationId xmlns:p14="http://schemas.microsoft.com/office/powerpoint/2010/main" val="1983519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9B2264E-8902-4C8F-8613-D5EF8EBC444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2E1ED5-7B7F-45C3-8038-85EDAFB461C8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95EC72-9B52-45B4-B83C-60983372AF07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learning_path_service.py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55323-4C47-4471-A11F-AADFED9E9AB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路径理由、顺序和状态都进入数据模型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3E7A95-10D9-44CE-A2E5-07F1B0E30138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882FF2-6202-475B-A515-B660F2EA557C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src/backend/app/services/learning_path_service.py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EE6F4D-433A-4E4B-BDDA-A7A0776060EC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8B33D6-0860-4AFC-8865-217C5DD746BD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for index, concept in enumerate(concepts, start=1):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item = LearningPathItem(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path_id=path.id,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concept_id=concept.id,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order_index=index,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title=f"阶段 {index}: {concept.name}",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objective=f"围绕 {concept.name} 完成理解与练习",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rationale=(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    f"关联 {concept.chapter}；支撑目标：{goal}"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),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status="pending" if index &gt; 1 else "in_progress",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session.add(item)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E4E87E-2BB0-445E-B298-EBAC1E469F19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真实源码节选：路径不是前端临时数组，而是可查询、可更新的持久化对象。</a:t>
            </a:r>
          </a:p>
        </p:txBody>
      </p:sp>
    </p:spTree>
    <p:extLst>
      <p:ext uri="{BB962C8B-B14F-4D97-AF65-F5344CB8AC3E}">
        <p14:creationId xmlns:p14="http://schemas.microsoft.com/office/powerpoint/2010/main" val="52722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0F1C7C2-C8B8-4B0A-BA33-DCD7B880815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资源生成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A69BA5-EF44-430A-9231-EC7B96DB8719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DD52BB-9B74-4A75-9302-C3372BE3B6AF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Resource Agent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4A8474-0F4A-46C3-BC18-0ADB193E1D4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资源生成继承当前节点与学生画像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99C533-E7C0-4D29-80B4-4101A5F3D367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8077200" cy="4514850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4166" b="4166"/>
          <a:stretch>
            <a:fillRect/>
          </a:stretch>
        </p:blipFill>
        <p:spPr>
          <a:xfrm>
            <a:off x="609600" y="1581150"/>
            <a:ext cx="7886700" cy="4324350"/>
          </a:xfrm>
          <a:prstGeom prst="roundRect">
            <a:avLst>
              <a:gd name="adj" fmla="val 2643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BD7BC1F-83CC-42E4-815A-C7F467835282}"/>
              </a:ext>
            </a:extLst>
          </p:cNvPr>
          <p:cNvSpPr>
            <a:spLocks noGrp="1"/>
          </p:cNvSpPr>
          <p:nvPr/>
        </p:nvSpPr>
        <p:spPr>
          <a:xfrm>
            <a:off x="8858250" y="18478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同一个“二叉树”节点，系统会同时读取：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489576-4E93-416D-AADF-55D40D8ACE1C}"/>
              </a:ext>
            </a:extLst>
          </p:cNvPr>
          <p:cNvSpPr>
            <a:spLocks noGrp="1"/>
          </p:cNvSpPr>
          <p:nvPr/>
        </p:nvSpPr>
        <p:spPr>
          <a:xfrm>
            <a:off x="8858250" y="26670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4211F"/>
                </a:solidFill>
              </a:defRPr>
            </a:pPr>
            <a:r>
              <a:rPr sz="1800" b="0" i="0">
                <a:solidFill>
                  <a:srgbClr val="14211F"/>
                </a:solidFill>
              </a:rPr>
              <a:t>— 节点目标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E8EC10-5A5C-4C1A-8862-8C97B1885E85}"/>
              </a:ext>
            </a:extLst>
          </p:cNvPr>
          <p:cNvSpPr>
            <a:spLocks noGrp="1"/>
          </p:cNvSpPr>
          <p:nvPr/>
        </p:nvSpPr>
        <p:spPr>
          <a:xfrm>
            <a:off x="8858250" y="31813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4211F"/>
                </a:solidFill>
              </a:defRPr>
            </a:pPr>
            <a:r>
              <a:rPr sz="1800" b="0" i="0">
                <a:solidFill>
                  <a:srgbClr val="14211F"/>
                </a:solidFill>
              </a:rPr>
              <a:t>— 知识基础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65E4C4-0D7D-437A-AA83-D6DEBD173A63}"/>
              </a:ext>
            </a:extLst>
          </p:cNvPr>
          <p:cNvSpPr>
            <a:spLocks noGrp="1"/>
          </p:cNvSpPr>
          <p:nvPr/>
        </p:nvSpPr>
        <p:spPr>
          <a:xfrm>
            <a:off x="8858250" y="3695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4211F"/>
                </a:solidFill>
              </a:defRPr>
            </a:pPr>
            <a:r>
              <a:rPr sz="1800" b="0" i="0">
                <a:solidFill>
                  <a:srgbClr val="14211F"/>
                </a:solidFill>
              </a:rPr>
              <a:t>— 薄弱点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A58B5B-5B81-47EE-8224-B9457F01CF52}"/>
              </a:ext>
            </a:extLst>
          </p:cNvPr>
          <p:cNvSpPr>
            <a:spLocks noGrp="1"/>
          </p:cNvSpPr>
          <p:nvPr/>
        </p:nvSpPr>
        <p:spPr>
          <a:xfrm>
            <a:off x="8858250" y="4210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4211F"/>
                </a:solidFill>
              </a:defRPr>
            </a:pPr>
            <a:r>
              <a:rPr sz="1800" b="0" i="0">
                <a:solidFill>
                  <a:srgbClr val="14211F"/>
                </a:solidFill>
              </a:rPr>
              <a:t>— 资源偏好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E30B17-E339-4ECE-882E-BBDD96D7042A}"/>
              </a:ext>
            </a:extLst>
          </p:cNvPr>
          <p:cNvSpPr>
            <a:spLocks noGrp="1"/>
          </p:cNvSpPr>
          <p:nvPr/>
        </p:nvSpPr>
        <p:spPr>
          <a:xfrm>
            <a:off x="8858250" y="47244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14E45"/>
                </a:solidFill>
              </a:defRPr>
            </a:pPr>
            <a:r>
              <a:rPr sz="1800" b="1" i="0">
                <a:solidFill>
                  <a:srgbClr val="214E45"/>
                </a:solidFill>
              </a:rPr>
              <a:t>— 课程证据</a:t>
            </a:r>
          </a:p>
        </p:txBody>
      </p:sp>
    </p:spTree>
    <p:extLst>
      <p:ext uri="{BB962C8B-B14F-4D97-AF65-F5344CB8AC3E}">
        <p14:creationId xmlns:p14="http://schemas.microsoft.com/office/powerpoint/2010/main" val="2004269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86E8101-CD4C-481D-8058-A0E0E56B383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资源生成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F1951B-0F23-4501-8FFC-A1B7745ABB2A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45A7A2-7331-4B4B-970C-E6828BA71F26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多形态输出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E0F8D8-8266-4380-873E-3A7042C2CA4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五种资源形态，服务同一个学习目标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7461368-490D-480D-BEE1-200EB168DBF8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5381625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7107" r="7107"/>
          <a:stretch>
            <a:fillRect/>
          </a:stretch>
        </p:blipFill>
        <p:spPr>
          <a:xfrm>
            <a:off x="609600" y="1619250"/>
            <a:ext cx="5191125" cy="3619500"/>
          </a:xfrm>
          <a:prstGeom prst="roundRect">
            <a:avLst>
              <a:gd name="adj" fmla="val 3158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D6A0F141-A703-4B01-AE60-5A49E060DEF1}"/>
              </a:ext>
            </a:extLst>
          </p:cNvPr>
          <p:cNvSpPr>
            <a:spLocks noGrp="1"/>
          </p:cNvSpPr>
          <p:nvPr/>
        </p:nvSpPr>
        <p:spPr>
          <a:xfrm>
            <a:off x="6296025" y="1524000"/>
            <a:ext cx="5381625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rcRect l="7107" r="7107"/>
          <a:stretch>
            <a:fillRect/>
          </a:stretch>
        </p:blipFill>
        <p:spPr>
          <a:xfrm>
            <a:off x="6391275" y="1619250"/>
            <a:ext cx="5191125" cy="3619500"/>
          </a:xfrm>
          <a:prstGeom prst="roundRect">
            <a:avLst>
              <a:gd name="adj" fmla="val 3158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D18A92F-3143-4755-B34A-9D162FB232EE}"/>
              </a:ext>
            </a:extLst>
          </p:cNvPr>
          <p:cNvSpPr>
            <a:spLocks noGrp="1"/>
          </p:cNvSpPr>
          <p:nvPr/>
        </p:nvSpPr>
        <p:spPr>
          <a:xfrm>
            <a:off x="1047750" y="561975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14E45"/>
                </a:solidFill>
              </a:defRPr>
            </a:pPr>
            <a:r>
              <a:rPr sz="1950" b="1" i="0">
                <a:solidFill>
                  <a:srgbClr val="214E45"/>
                </a:solidFill>
              </a:rPr>
              <a:t>讲解文档 · 练习题 · 思维导图 · 拓展阅读 · 代码实操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368329-657D-488E-B629-C10F364BD871}"/>
              </a:ext>
            </a:extLst>
          </p:cNvPr>
          <p:cNvSpPr>
            <a:spLocks noGrp="1"/>
          </p:cNvSpPr>
          <p:nvPr/>
        </p:nvSpPr>
        <p:spPr>
          <a:xfrm>
            <a:off x="2381250" y="60579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形态不同，节点、画像与来源证据保持一致。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821997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0E35DCD-B5A2-4F91-89FA-7745302F863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2FC220-3A39-4CD9-8563-5C4F8B0797FD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2A5898-9BDD-4DE7-B89F-FBCF75AB2D06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resource_service.py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13A9E1-BD60-4E78-A3B0-CBAF2B09BF9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生成前先检索，生成后再审查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15CEF95-16BF-4502-BB48-4BD038BEA6C8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D84163-C631-4852-993C-0D1F4BEA1A5E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src/backend/app/services/resource_service.py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3F2FD3-70B8-4AD8-B8F9-A1DF82D1829A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E72399-A4EE-4D09-8A49-26BE0C232935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route = self.router_agent.route_resource_generation(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resource_type, concept_name, objective, profile_preferences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chunks = KnowledgeBaseService(...).search(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course_id, resource_query, top_k=5,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owner_user_id=owner_user_id,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result = self.agent.generate(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concept_name, objective, resource_type,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chunks, profile_preferences,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critic = self.critic_agent.review_resource(result, ...)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if not critic.approved: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result = self.agent.generate(...revised_objective...)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D8A653-21D2-459D-BBA5-DB33C42C47A5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真实调用顺序：Router → Retriever → Resource → Critic，失败时带修订意见重生成。</a:t>
            </a:r>
          </a:p>
        </p:txBody>
      </p:sp>
    </p:spTree>
    <p:extLst>
      <p:ext uri="{BB962C8B-B14F-4D97-AF65-F5344CB8AC3E}">
        <p14:creationId xmlns:p14="http://schemas.microsoft.com/office/powerpoint/2010/main" val="1534779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FB07BEB-380A-4C66-B7FD-25C8C042D01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知识库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494042-D2AB-4839-BC75-0C501E6A770D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8D760C-3F09-45AD-AAC1-73C9FE9C4660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RAG 数据入口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A61057-90B7-4020-AA4E-DE6419EA27D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课程资料先变成可检索、可引用的证据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C2E51C3-7187-4F53-BF41-BEC90EC90110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790575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2734" b="2734"/>
          <a:stretch>
            <a:fillRect/>
          </a:stretch>
        </p:blipFill>
        <p:spPr>
          <a:xfrm>
            <a:off x="609600" y="1562100"/>
            <a:ext cx="7715250" cy="4362450"/>
          </a:xfrm>
          <a:prstGeom prst="roundRect">
            <a:avLst>
              <a:gd name="adj" fmla="val 2620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BE1F96E-96ED-4721-A5D0-F05ABFC56EB9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4211F"/>
                </a:solidFill>
              </a:defRPr>
            </a:pPr>
            <a:r>
              <a:rPr sz="1875" b="1" i="0">
                <a:solidFill>
                  <a:srgbClr val="14211F"/>
                </a:solidFill>
              </a:rPr>
              <a:t>01  上传 / 粘贴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AF68E8-7351-4A8E-A7C7-CD2474D35812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4211F"/>
                </a:solidFill>
              </a:defRPr>
            </a:pPr>
            <a:r>
              <a:rPr sz="1875" b="1" i="0">
                <a:solidFill>
                  <a:srgbClr val="14211F"/>
                </a:solidFill>
              </a:rPr>
              <a:t>02  解析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F0247F-38DE-46C7-A176-A488BBA45936}"/>
              </a:ext>
            </a:extLst>
          </p:cNvPr>
          <p:cNvSpPr>
            <a:spLocks noGrp="1"/>
          </p:cNvSpPr>
          <p:nvPr/>
        </p:nvSpPr>
        <p:spPr>
          <a:xfrm>
            <a:off x="8858250" y="30861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4211F"/>
                </a:solidFill>
              </a:defRPr>
            </a:pPr>
            <a:r>
              <a:rPr sz="1875" b="1" i="0">
                <a:solidFill>
                  <a:srgbClr val="14211F"/>
                </a:solidFill>
              </a:rPr>
              <a:t>03  切分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0ED641-A0BF-4644-914C-B22A1454FD0E}"/>
              </a:ext>
            </a:extLst>
          </p:cNvPr>
          <p:cNvSpPr>
            <a:spLocks noGrp="1"/>
          </p:cNvSpPr>
          <p:nvPr/>
        </p:nvSpPr>
        <p:spPr>
          <a:xfrm>
            <a:off x="8858250" y="37719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4211F"/>
                </a:solidFill>
              </a:defRPr>
            </a:pPr>
            <a:r>
              <a:rPr sz="1875" b="1" i="0">
                <a:solidFill>
                  <a:srgbClr val="14211F"/>
                </a:solidFill>
              </a:rPr>
              <a:t>04  检索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FB9D60-B38B-495F-AA35-77A7588FCCFD}"/>
              </a:ext>
            </a:extLst>
          </p:cNvPr>
          <p:cNvSpPr>
            <a:spLocks noGrp="1"/>
          </p:cNvSpPr>
          <p:nvPr/>
        </p:nvSpPr>
        <p:spPr>
          <a:xfrm>
            <a:off x="8858250" y="44577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14E45"/>
                </a:solidFill>
              </a:defRPr>
            </a:pPr>
            <a:r>
              <a:rPr sz="1875" b="1" i="0">
                <a:solidFill>
                  <a:srgbClr val="214E45"/>
                </a:solidFill>
              </a:rPr>
              <a:t>05  引用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93B9F0-A59F-4C2D-9789-EA891959D326}"/>
              </a:ext>
            </a:extLst>
          </p:cNvPr>
          <p:cNvSpPr>
            <a:spLocks noGrp="1"/>
          </p:cNvSpPr>
          <p:nvPr/>
        </p:nvSpPr>
        <p:spPr>
          <a:xfrm>
            <a:off x="8858250" y="5334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当前支持 TXT、Markdown、PDF、DOCX 等演示资料。</a:t>
            </a:r>
          </a:p>
        </p:txBody>
      </p:sp>
    </p:spTree>
    <p:extLst>
      <p:ext uri="{BB962C8B-B14F-4D97-AF65-F5344CB8AC3E}">
        <p14:creationId xmlns:p14="http://schemas.microsoft.com/office/powerpoint/2010/main" val="1772738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C0D1B3-3315-4BCE-8E38-BD506C3117B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可信 RAG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817885-1F0D-451F-980D-55F59BA923F8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856352-59D8-4E1C-8F5F-6C0010350564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证据面板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786872-E9FF-4BD7-9446-C80F9DE435B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检索结果不仅返回正文，还保留来源与得分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124A0AA-F21E-4874-8A26-AB8AB1CD6F22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8039100" cy="4591050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3132" b="3132"/>
          <a:stretch>
            <a:fillRect/>
          </a:stretch>
        </p:blipFill>
        <p:spPr>
          <a:xfrm>
            <a:off x="609600" y="1562100"/>
            <a:ext cx="7848600" cy="4400550"/>
          </a:xfrm>
          <a:prstGeom prst="roundRect">
            <a:avLst>
              <a:gd name="adj" fmla="val 2597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A7D1CB9-B043-4F45-86AA-7A29F6B79726}"/>
              </a:ext>
            </a:extLst>
          </p:cNvPr>
          <p:cNvSpPr>
            <a:spLocks noGrp="1"/>
          </p:cNvSpPr>
          <p:nvPr/>
        </p:nvSpPr>
        <p:spPr>
          <a:xfrm>
            <a:off x="8858250" y="1752600"/>
            <a:ext cx="266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4211F"/>
                </a:solidFill>
              </a:defRPr>
            </a:pPr>
            <a:r>
              <a:rPr sz="2100" b="1" i="0">
                <a:solidFill>
                  <a:srgbClr val="14211F"/>
                </a:solidFill>
              </a:rPr>
              <a:t>每条证据都带着可检查的元数据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034167-8F59-4991-802A-F1012FB6ECCB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214E45"/>
                </a:solidFill>
              </a:defRPr>
            </a:pPr>
            <a:r>
              <a:rPr sz="1575" b="0" i="0">
                <a:solidFill>
                  <a:srgbClr val="214E45"/>
                </a:solidFill>
              </a:rPr>
              <a:t>source_ref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A6D3C1-1457-4278-B0F3-38DBCA0C71F5}"/>
              </a:ext>
            </a:extLst>
          </p:cNvPr>
          <p:cNvSpPr>
            <a:spLocks noGrp="1"/>
          </p:cNvSpPr>
          <p:nvPr/>
        </p:nvSpPr>
        <p:spPr>
          <a:xfrm>
            <a:off x="8858250" y="31718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214E45"/>
                </a:solidFill>
              </a:defRPr>
            </a:pPr>
            <a:r>
              <a:rPr sz="1575" b="0" i="0">
                <a:solidFill>
                  <a:srgbClr val="214E45"/>
                </a:solidFill>
              </a:rPr>
              <a:t>source_title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16662-1BEE-4456-A54D-DD77E3D5EC96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214E45"/>
                </a:solidFill>
              </a:defRPr>
            </a:pPr>
            <a:r>
              <a:rPr sz="1575" b="0" i="0">
                <a:solidFill>
                  <a:srgbClr val="214E45"/>
                </a:solidFill>
              </a:rPr>
              <a:t>excerpt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1667D3-523F-4055-9B63-175E811AD22C}"/>
              </a:ext>
            </a:extLst>
          </p:cNvPr>
          <p:cNvSpPr>
            <a:spLocks noGrp="1"/>
          </p:cNvSpPr>
          <p:nvPr/>
        </p:nvSpPr>
        <p:spPr>
          <a:xfrm>
            <a:off x="8858250" y="40671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score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548046-5319-4F82-AE29-E633F98BD96C}"/>
              </a:ext>
            </a:extLst>
          </p:cNvPr>
          <p:cNvSpPr>
            <a:spLocks noGrp="1"/>
          </p:cNvSpPr>
          <p:nvPr/>
        </p:nvSpPr>
        <p:spPr>
          <a:xfrm>
            <a:off x="8858250" y="4514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retrieval_mode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B5AC79-CC4C-4506-9F21-6BF966A79BE7}"/>
              </a:ext>
            </a:extLst>
          </p:cNvPr>
          <p:cNvSpPr>
            <a:spLocks noGrp="1"/>
          </p:cNvSpPr>
          <p:nvPr/>
        </p:nvSpPr>
        <p:spPr>
          <a:xfrm>
            <a:off x="8858250" y="49625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matched_terms</a:t>
            </a:r>
          </a:p>
        </p:txBody>
      </p:sp>
    </p:spTree>
    <p:extLst>
      <p:ext uri="{BB962C8B-B14F-4D97-AF65-F5344CB8AC3E}">
        <p14:creationId xmlns:p14="http://schemas.microsoft.com/office/powerpoint/2010/main" val="1643527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7DFD39C-4C4E-4E63-938B-9DB3AB2EBA5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CA6199-2E3D-4489-8783-5FE2EC718F9A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19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EA3D68-6221-46EB-A5C4-68164D313549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citation_service.py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C8E79B-60DF-4E3B-9372-95A352AA75E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引用校验把“看起来正确”变成可检查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14A38AA-E644-4D8F-A119-28306D38E1A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85E109-BD09-4607-8BCD-17C2246471D9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src/backend/app/services/citation_service.py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5D070D-6461-4ADA-85F3-CF733A2B1647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35F0FB-F00F-43A0-B422-FFF022E769DB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def validate_citations(answer, source_refs):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allowed = {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str(source.get("source_ref"))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for source in source_refs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if source.get("source_ref")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}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cited = set(re.findall(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r"document:\d+#chunk:\d+", answer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))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fake = sorted(cited - allowed)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missing = bool(allowed and not cited)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return {"fake_source_refs": fake,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    "missing_citation": missing}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258829-0BA4-4FE6-BC44-6D01801C533C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系统能够标记缺失引用与伪造 source_ref；更完整的事实评测仍列入路线图。</a:t>
            </a:r>
          </a:p>
        </p:txBody>
      </p:sp>
    </p:spTree>
    <p:extLst>
      <p:ext uri="{BB962C8B-B14F-4D97-AF65-F5344CB8AC3E}">
        <p14:creationId xmlns:p14="http://schemas.microsoft.com/office/powerpoint/2010/main" val="105031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5D52884-05E6-484E-89F8-E9FBB432331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教师答疑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CEA82B-F713-4918-85A7-9637F284B94B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E797B6-4AC7-45D9-9300-BC33D482ED08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Grounded Tutor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826FEA-A149-470D-A86F-7B74E5C7988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教师答疑同时读取画像与课程证据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BFE7234-23DE-4B3B-8731-111F908432AB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8153400" cy="46101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3604" b="3604"/>
          <a:stretch>
            <a:fillRect/>
          </a:stretch>
        </p:blipFill>
        <p:spPr>
          <a:xfrm>
            <a:off x="609600" y="1562100"/>
            <a:ext cx="7962900" cy="4419600"/>
          </a:xfrm>
          <a:prstGeom prst="roundRect">
            <a:avLst>
              <a:gd name="adj" fmla="val 2586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48582DF-5F37-4798-947B-2D06A47C06A0}"/>
              </a:ext>
            </a:extLst>
          </p:cNvPr>
          <p:cNvSpPr>
            <a:spLocks noGrp="1"/>
          </p:cNvSpPr>
          <p:nvPr/>
        </p:nvSpPr>
        <p:spPr>
          <a:xfrm>
            <a:off x="8953500" y="1866900"/>
            <a:ext cx="57150" cy="10668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37F156-C495-4285-B0CC-A322CD8975D8}"/>
              </a:ext>
            </a:extLst>
          </p:cNvPr>
          <p:cNvSpPr>
            <a:spLocks noGrp="1"/>
          </p:cNvSpPr>
          <p:nvPr/>
        </p:nvSpPr>
        <p:spPr>
          <a:xfrm>
            <a:off x="9163050" y="18478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先检索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85333C-560A-415F-918B-70C7DB3B8FFA}"/>
              </a:ext>
            </a:extLst>
          </p:cNvPr>
          <p:cNvSpPr>
            <a:spLocks noGrp="1"/>
          </p:cNvSpPr>
          <p:nvPr/>
        </p:nvSpPr>
        <p:spPr>
          <a:xfrm>
            <a:off x="9163050" y="222885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资料管理员从课程知识库返回相关 chunk。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165FAA-ADAA-43CD-ACF4-30037BFF5D47}"/>
              </a:ext>
            </a:extLst>
          </p:cNvPr>
          <p:cNvSpPr>
            <a:spLocks noGrp="1"/>
          </p:cNvSpPr>
          <p:nvPr/>
        </p:nvSpPr>
        <p:spPr>
          <a:xfrm>
            <a:off x="8953500" y="3429000"/>
            <a:ext cx="57150" cy="10668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7CFC63-7BBD-4943-BFEC-97BD5E7F05E5}"/>
              </a:ext>
            </a:extLst>
          </p:cNvPr>
          <p:cNvSpPr>
            <a:spLocks noGrp="1"/>
          </p:cNvSpPr>
          <p:nvPr/>
        </p:nvSpPr>
        <p:spPr>
          <a:xfrm>
            <a:off x="9163050" y="3409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B56E3C"/>
                </a:solidFill>
              </a:defRPr>
            </a:pPr>
            <a:r>
              <a:rPr sz="1350" b="1" i="0">
                <a:solidFill>
                  <a:srgbClr val="B56E3C"/>
                </a:solidFill>
              </a:rPr>
              <a:t>再回答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ED7D1F-5C65-44A5-B224-B7FDA142A210}"/>
              </a:ext>
            </a:extLst>
          </p:cNvPr>
          <p:cNvSpPr>
            <a:spLocks noGrp="1"/>
          </p:cNvSpPr>
          <p:nvPr/>
        </p:nvSpPr>
        <p:spPr>
          <a:xfrm>
            <a:off x="9163050" y="379095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答疑教师结合学生基础调整解释方式。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81D69C-D923-4A7D-91F9-5D326BA2C949}"/>
              </a:ext>
            </a:extLst>
          </p:cNvPr>
          <p:cNvSpPr>
            <a:spLocks noGrp="1"/>
          </p:cNvSpPr>
          <p:nvPr/>
        </p:nvSpPr>
        <p:spPr>
          <a:xfrm>
            <a:off x="8953500" y="5105400"/>
            <a:ext cx="240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回答保留来源，模型异常时回退本地规则。</a:t>
            </a:r>
          </a:p>
        </p:txBody>
      </p:sp>
    </p:spTree>
    <p:extLst>
      <p:ext uri="{BB962C8B-B14F-4D97-AF65-F5344CB8AC3E}">
        <p14:creationId xmlns:p14="http://schemas.microsoft.com/office/powerpoint/2010/main" val="244933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E59284D-DBBE-4ED7-B206-B606473C880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测验评价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27A585-D4B2-40F6-BBF3-C2DDD9E2D520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BA5EA5-9447-42E3-819B-AE3D089766B0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Quiz + Evaluator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641A00-10D2-4479-A400-2AD1BB34649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测验不是终点，它会改变下一轮学习决策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C0C9DD1-9F79-4FB1-B4EB-E4DB74F0AD2A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56197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12118" r="12118"/>
          <a:stretch>
            <a:fillRect/>
          </a:stretch>
        </p:blipFill>
        <p:spPr>
          <a:xfrm>
            <a:off x="609600" y="1581150"/>
            <a:ext cx="542925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7F7E04B-3FC4-4005-9E61-CBEB7C639379}"/>
              </a:ext>
            </a:extLst>
          </p:cNvPr>
          <p:cNvSpPr>
            <a:spLocks noGrp="1"/>
          </p:cNvSpPr>
          <p:nvPr/>
        </p:nvSpPr>
        <p:spPr>
          <a:xfrm>
            <a:off x="6477000" y="1485900"/>
            <a:ext cx="52006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rcRect l="15042" r="15042"/>
          <a:stretch>
            <a:fillRect/>
          </a:stretch>
        </p:blipFill>
        <p:spPr>
          <a:xfrm>
            <a:off x="6572250" y="1581150"/>
            <a:ext cx="501015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B783A3C-4A19-43EF-8E31-DD9B79F2D564}"/>
              </a:ext>
            </a:extLst>
          </p:cNvPr>
          <p:cNvSpPr>
            <a:spLocks noGrp="1"/>
          </p:cNvSpPr>
          <p:nvPr/>
        </p:nvSpPr>
        <p:spPr>
          <a:xfrm>
            <a:off x="1047750" y="6038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0">
                <a:solidFill>
                  <a:srgbClr val="65716D"/>
                </a:solidFill>
              </a:defRPr>
            </a:pPr>
            <a:r>
              <a:rPr sz="1425" b="0" i="0">
                <a:solidFill>
                  <a:srgbClr val="65716D"/>
                </a:solidFill>
              </a:rPr>
              <a:t>出题教师生成题目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2C0535-E4E3-432B-8B1E-C67060A96E3B}"/>
              </a:ext>
            </a:extLst>
          </p:cNvPr>
          <p:cNvSpPr>
            <a:spLocks noGrp="1"/>
          </p:cNvSpPr>
          <p:nvPr/>
        </p:nvSpPr>
        <p:spPr>
          <a:xfrm>
            <a:off x="6953250" y="6038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0">
                <a:solidFill>
                  <a:srgbClr val="65716D"/>
                </a:solidFill>
              </a:defRPr>
            </a:pPr>
            <a:r>
              <a:rPr sz="1425" b="0" i="0">
                <a:solidFill>
                  <a:srgbClr val="65716D"/>
                </a:solidFill>
              </a:rPr>
              <a:t>测评教师输出反馈并更新掌握度</a:t>
            </a:r>
          </a:p>
        </p:txBody>
      </p:sp>
    </p:spTree>
    <p:extLst>
      <p:ext uri="{BB962C8B-B14F-4D97-AF65-F5344CB8AC3E}">
        <p14:creationId xmlns:p14="http://schemas.microsoft.com/office/powerpoint/2010/main" val="29255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F689704-3110-433E-BB48-D52B2333FB5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65BC22-7DBD-41C4-A750-5C973A658947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BF0926-71E8-4D91-A6CD-A42A359C8E80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assessment_service.py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566075-52C2-4C36-886B-89AE310B3AD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评价结果写回作答记录与掌握度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BCE82D-4888-42F9-87DE-CE3ACB04E1B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24330E-1382-4531-BD23-78B5A579D9DD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src/backend/app/services/assessment_service.py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C5DFB4-61CB-42C8-9D7E-9FD6AB885D4B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7D0FB-FADE-4CB6-B676-5C9D7D3D29D0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result = self.evaluator_agent.evaluate(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expected_answer, answers, concept_id_value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attempt = Attempt(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quiz_id=quiz_id_value,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student_profile_id=profile_id_value,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score=result.score,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feedback=result.feedback,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)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session.add(attempt)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for update in result.mastery_updates: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session.add(MasteryRecord(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concept_id=update["concept_id"],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    mastery_score=update["mastery_score"],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  ))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14A399-EBBC-4E37-8798-D2AEDC5A308D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作答、反馈、掌握度和证据进入同一事务链路，供画像更新继续使用。</a:t>
            </a:r>
          </a:p>
        </p:txBody>
      </p:sp>
    </p:spTree>
    <p:extLst>
      <p:ext uri="{BB962C8B-B14F-4D97-AF65-F5344CB8AC3E}">
        <p14:creationId xmlns:p14="http://schemas.microsoft.com/office/powerpoint/2010/main" val="952636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75E5D90-A76F-479A-A64E-FF8BAC7ACCB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学习闭环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DC10FC-5D99-437E-8348-0E4E30557A83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1601A-3572-4978-92E5-4BC21626348D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真实闭环结果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E5907F-26F5-4977-8EA5-9999AECD1ED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一次完整学习，会留下可追溯的状态变化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DC5E49E-385C-413F-A134-901F48DC221A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8001000" cy="4591050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2903" b="2903"/>
          <a:stretch>
            <a:fillRect/>
          </a:stretch>
        </p:blipFill>
        <p:spPr>
          <a:xfrm>
            <a:off x="609600" y="1562100"/>
            <a:ext cx="7810500" cy="4400550"/>
          </a:xfrm>
          <a:prstGeom prst="roundRect">
            <a:avLst>
              <a:gd name="adj" fmla="val 2597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2A55CB1-CDC4-49DD-9DFA-A36F9A639130}"/>
              </a:ext>
            </a:extLst>
          </p:cNvPr>
          <p:cNvSpPr>
            <a:spLocks noGrp="1"/>
          </p:cNvSpPr>
          <p:nvPr/>
        </p:nvSpPr>
        <p:spPr>
          <a:xfrm>
            <a:off x="8839200" y="18097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1  学生完成节点与测验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FFCFDE-0A9F-4E83-A063-256AA1B260A4}"/>
              </a:ext>
            </a:extLst>
          </p:cNvPr>
          <p:cNvSpPr>
            <a:spLocks noGrp="1"/>
          </p:cNvSpPr>
          <p:nvPr/>
        </p:nvSpPr>
        <p:spPr>
          <a:xfrm>
            <a:off x="8839200" y="262890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2  Evaluator 生成评分与建议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991DEE-FC7B-49AC-A701-17AF9FB551AA}"/>
              </a:ext>
            </a:extLst>
          </p:cNvPr>
          <p:cNvSpPr>
            <a:spLocks noGrp="1"/>
          </p:cNvSpPr>
          <p:nvPr/>
        </p:nvSpPr>
        <p:spPr>
          <a:xfrm>
            <a:off x="8839200" y="34480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3  掌握度和薄弱点写回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752ED4-AEEC-4D76-A37A-A06A1D4BDC83}"/>
              </a:ext>
            </a:extLst>
          </p:cNvPr>
          <p:cNvSpPr>
            <a:spLocks noGrp="1"/>
          </p:cNvSpPr>
          <p:nvPr/>
        </p:nvSpPr>
        <p:spPr>
          <a:xfrm>
            <a:off x="8839200" y="426720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14E45"/>
                </a:solidFill>
              </a:defRPr>
            </a:pPr>
            <a:r>
              <a:rPr sz="1725" b="1" i="0">
                <a:solidFill>
                  <a:srgbClr val="214E45"/>
                </a:solidFill>
              </a:rPr>
              <a:t>4  新画像驱动下一轮路径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8DBF3D-0E89-4A6E-AD4B-8D775CA527E9}"/>
              </a:ext>
            </a:extLst>
          </p:cNvPr>
          <p:cNvSpPr>
            <a:spLocks noGrp="1"/>
          </p:cNvSpPr>
          <p:nvPr/>
        </p:nvSpPr>
        <p:spPr>
          <a:xfrm>
            <a:off x="8839200" y="5257800"/>
            <a:ext cx="2609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这条回路，是系统区别于一次性内容生成器的关键。</a:t>
            </a:r>
          </a:p>
        </p:txBody>
      </p:sp>
    </p:spTree>
    <p:extLst>
      <p:ext uri="{BB962C8B-B14F-4D97-AF65-F5344CB8AC3E}">
        <p14:creationId xmlns:p14="http://schemas.microsoft.com/office/powerpoint/2010/main" val="1588953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4E3A5A1-883B-4822-AFBB-7086A277D16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技术架构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54BDA0-2140-4D1C-8B62-CBFE7DCCB69B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535B7B-E9FE-4491-B07B-68936DE6527E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分层设计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4B2AF5-D346-447D-AE88-3EDDFDDECA7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前端、业务、智能体、数据与模型彼此隔离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BEE708A-E436-4AD4-A7CF-99A57D76FF42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10210800" cy="609600"/>
          </a:xfrm>
          <a:prstGeom prst="roundRect">
            <a:avLst>
              <a:gd name="adj" fmla="val 18750"/>
            </a:avLst>
          </a:prstGeom>
          <a:solidFill>
            <a:srgbClr val="EDF3F0"/>
          </a:solidFill>
          <a:ln w="9525">
            <a:solidFill>
              <a:srgbClr val="B9CAC3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B8D2E6-37E2-4150-80D2-13A523973A93}"/>
              </a:ext>
            </a:extLst>
          </p:cNvPr>
          <p:cNvSpPr>
            <a:spLocks noGrp="1"/>
          </p:cNvSpPr>
          <p:nvPr/>
        </p:nvSpPr>
        <p:spPr>
          <a:xfrm>
            <a:off x="1219200" y="18192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14E45"/>
                </a:solidFill>
              </a:defRPr>
            </a:pPr>
            <a:r>
              <a:rPr sz="1800" b="1" i="0">
                <a:solidFill>
                  <a:srgbClr val="214E45"/>
                </a:solidFill>
              </a:rPr>
              <a:t>浏览器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D6DA0-0E21-4C56-89BE-ED29FD120C9B}"/>
              </a:ext>
            </a:extLst>
          </p:cNvPr>
          <p:cNvSpPr>
            <a:spLocks noGrp="1"/>
          </p:cNvSpPr>
          <p:nvPr/>
        </p:nvSpPr>
        <p:spPr>
          <a:xfrm>
            <a:off x="2952750" y="181927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React · Vite · TypeScript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0E28DA6-B250-4BD2-8632-B075DE5F3238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10210800" cy="609600"/>
          </a:xfrm>
          <a:prstGeom prst="roundRect">
            <a:avLst>
              <a:gd name="adj" fmla="val 18750"/>
            </a:avLst>
          </a:prstGeom>
          <a:solidFill>
            <a:srgbClr val="E3ECE8"/>
          </a:solidFill>
          <a:ln w="9525">
            <a:solidFill>
              <a:srgbClr val="B9CAC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86A948-8055-4EFC-94CA-4BC00DC35959}"/>
              </a:ext>
            </a:extLst>
          </p:cNvPr>
          <p:cNvSpPr>
            <a:spLocks noGrp="1"/>
          </p:cNvSpPr>
          <p:nvPr/>
        </p:nvSpPr>
        <p:spPr>
          <a:xfrm>
            <a:off x="1219200" y="26384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14E45"/>
                </a:solidFill>
              </a:defRPr>
            </a:pPr>
            <a:r>
              <a:rPr sz="1800" b="1" i="0">
                <a:solidFill>
                  <a:srgbClr val="214E45"/>
                </a:solidFill>
              </a:rPr>
              <a:t>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E6D360-A231-463F-9DC9-60B2333698D7}"/>
              </a:ext>
            </a:extLst>
          </p:cNvPr>
          <p:cNvSpPr>
            <a:spLocks noGrp="1"/>
          </p:cNvSpPr>
          <p:nvPr/>
        </p:nvSpPr>
        <p:spPr>
          <a:xfrm>
            <a:off x="2952750" y="263842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FastAPI · Pydantic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C65FB96-AFE7-45F4-B03F-0447F61F2E8A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10210800" cy="609600"/>
          </a:xfrm>
          <a:prstGeom prst="roundRect">
            <a:avLst>
              <a:gd name="adj" fmla="val 18750"/>
            </a:avLst>
          </a:prstGeom>
          <a:solidFill>
            <a:srgbClr val="D7E6E0"/>
          </a:solidFill>
          <a:ln w="9525">
            <a:solidFill>
              <a:srgbClr val="B9CAC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861167-8FE8-4C89-A564-7907CA179DC2}"/>
              </a:ext>
            </a:extLst>
          </p:cNvPr>
          <p:cNvSpPr>
            <a:spLocks noGrp="1"/>
          </p:cNvSpPr>
          <p:nvPr/>
        </p:nvSpPr>
        <p:spPr>
          <a:xfrm>
            <a:off x="1219200" y="34575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14E45"/>
                </a:solidFill>
              </a:defRPr>
            </a:pPr>
            <a:r>
              <a:rPr sz="1800" b="1" i="0">
                <a:solidFill>
                  <a:srgbClr val="214E45"/>
                </a:solidFill>
              </a:rPr>
              <a:t>业务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00B5F8-C81A-4656-903E-6A8855E21718}"/>
              </a:ext>
            </a:extLst>
          </p:cNvPr>
          <p:cNvSpPr>
            <a:spLocks noGrp="1"/>
          </p:cNvSpPr>
          <p:nvPr/>
        </p:nvSpPr>
        <p:spPr>
          <a:xfrm>
            <a:off x="2952750" y="345757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Profile · Path · Resource · Tutor · Assessment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F6A4843-5D85-493D-901D-4A1B30AD44A7}"/>
              </a:ext>
            </a:extLst>
          </p:cNvPr>
          <p:cNvSpPr>
            <a:spLocks noGrp="1"/>
          </p:cNvSpPr>
          <p:nvPr/>
        </p:nvSpPr>
        <p:spPr>
          <a:xfrm>
            <a:off x="990600" y="4133850"/>
            <a:ext cx="10210800" cy="609600"/>
          </a:xfrm>
          <a:prstGeom prst="roundRect">
            <a:avLst>
              <a:gd name="adj" fmla="val 18750"/>
            </a:avLst>
          </a:prstGeom>
          <a:solidFill>
            <a:srgbClr val="CBE0D8"/>
          </a:solidFill>
          <a:ln w="9525">
            <a:solidFill>
              <a:srgbClr val="B9CAC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72262A-B5B0-4374-AB26-020BAA1E17A5}"/>
              </a:ext>
            </a:extLst>
          </p:cNvPr>
          <p:cNvSpPr>
            <a:spLocks noGrp="1"/>
          </p:cNvSpPr>
          <p:nvPr/>
        </p:nvSpPr>
        <p:spPr>
          <a:xfrm>
            <a:off x="1219200" y="42767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14E45"/>
                </a:solidFill>
              </a:defRPr>
            </a:pPr>
            <a:r>
              <a:rPr sz="1800" b="1" i="0">
                <a:solidFill>
                  <a:srgbClr val="214E45"/>
                </a:solidFill>
              </a:rPr>
              <a:t>智能体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F636A4-4AF9-4BBD-A0DE-B6B8250DA1A1}"/>
              </a:ext>
            </a:extLst>
          </p:cNvPr>
          <p:cNvSpPr>
            <a:spLocks noGrp="1"/>
          </p:cNvSpPr>
          <p:nvPr/>
        </p:nvSpPr>
        <p:spPr>
          <a:xfrm>
            <a:off x="2952750" y="427672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Router · Retriever · Planner · Resource · Tutor · Evaluator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0B8D84B-729B-483B-999B-C405A5EC591F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10210800" cy="609600"/>
          </a:xfrm>
          <a:prstGeom prst="roundRect">
            <a:avLst>
              <a:gd name="adj" fmla="val 18750"/>
            </a:avLst>
          </a:prstGeom>
          <a:solidFill>
            <a:srgbClr val="BED8CE"/>
          </a:solidFill>
          <a:ln w="9525">
            <a:solidFill>
              <a:srgbClr val="B9CAC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42B481-DC17-4133-BDDE-05BAD7247336}"/>
              </a:ext>
            </a:extLst>
          </p:cNvPr>
          <p:cNvSpPr>
            <a:spLocks noGrp="1"/>
          </p:cNvSpPr>
          <p:nvPr/>
        </p:nvSpPr>
        <p:spPr>
          <a:xfrm>
            <a:off x="1219200" y="5095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14E45"/>
                </a:solidFill>
              </a:defRPr>
            </a:pPr>
            <a:r>
              <a:rPr sz="1800" b="1" i="0">
                <a:solidFill>
                  <a:srgbClr val="214E45"/>
                </a:solidFill>
              </a:rPr>
              <a:t>数据 / 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54DF5A-A0C6-4CAC-98FE-33B1310AFABB}"/>
              </a:ext>
            </a:extLst>
          </p:cNvPr>
          <p:cNvSpPr>
            <a:spLocks noGrp="1"/>
          </p:cNvSpPr>
          <p:nvPr/>
        </p:nvSpPr>
        <p:spPr>
          <a:xfrm>
            <a:off x="2952750" y="509587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SQLAlchemy + SQLite · RAG · 科大讯飞星火适配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6E790B-C5A3-4D4E-A719-7EC88AD84473}"/>
              </a:ext>
            </a:extLst>
          </p:cNvPr>
          <p:cNvSpPr>
            <a:spLocks noGrp="1"/>
          </p:cNvSpPr>
          <p:nvPr/>
        </p:nvSpPr>
        <p:spPr>
          <a:xfrm>
            <a:off x="2286000" y="59817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0">
                <a:solidFill>
                  <a:srgbClr val="65716D"/>
                </a:solidFill>
              </a:defRPr>
            </a:pPr>
            <a:r>
              <a:rPr sz="1425" b="0" i="0">
                <a:solidFill>
                  <a:srgbClr val="65716D"/>
                </a:solidFill>
              </a:rPr>
              <a:t>浏览器不直接访问数据库，也不保存任何模型密钥。</a:t>
            </a:r>
          </a:p>
        </p:txBody>
      </p:sp>
    </p:spTree>
    <p:extLst>
      <p:ext uri="{BB962C8B-B14F-4D97-AF65-F5344CB8AC3E}">
        <p14:creationId xmlns:p14="http://schemas.microsoft.com/office/powerpoint/2010/main" val="392638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BD2C403-3F09-4809-AF40-B3CB239D0E7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云端部署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30C6CD-929C-49C3-909C-370C4C8B1C39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158C48-59A8-4D5C-9664-5FCE19B9ADF5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https://ms7.fun/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7E3404-8C68-437B-88DE-9B8CEEE3D6E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公网只暴露一个入口，模型密钥留在服务端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3C53B-37C3-4121-847F-9298B61E1AE1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14211F"/>
                </a:solidFill>
              </a:defRPr>
            </a:pPr>
            <a:r>
              <a:rPr sz="2550" b="1" i="0">
                <a:solidFill>
                  <a:srgbClr val="14211F"/>
                </a:solidFill>
              </a:rPr>
              <a:t>浏览器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A4E843-3AD8-4669-B0D0-060D80C06DE2}"/>
              </a:ext>
            </a:extLst>
          </p:cNvPr>
          <p:cNvSpPr>
            <a:spLocks noGrp="1"/>
          </p:cNvSpPr>
          <p:nvPr/>
        </p:nvSpPr>
        <p:spPr>
          <a:xfrm>
            <a:off x="2724150" y="23050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0" i="0">
                <a:solidFill>
                  <a:srgbClr val="2F6F62"/>
                </a:solidFill>
              </a:defRPr>
            </a:pPr>
            <a:r>
              <a:rPr sz="3150" b="0" i="0">
                <a:solidFill>
                  <a:srgbClr val="2F6F62"/>
                </a:solidFill>
              </a:rPr>
              <a:t>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556E2DD-23FD-4D44-8A25-5A4BB8A658B4}"/>
              </a:ext>
            </a:extLst>
          </p:cNvPr>
          <p:cNvSpPr>
            <a:spLocks noGrp="1"/>
          </p:cNvSpPr>
          <p:nvPr/>
        </p:nvSpPr>
        <p:spPr>
          <a:xfrm>
            <a:off x="3524250" y="1885950"/>
            <a:ext cx="2381250" cy="1381125"/>
          </a:xfrm>
          <a:prstGeom prst="roundRect">
            <a:avLst>
              <a:gd name="adj" fmla="val 8276"/>
            </a:avLst>
          </a:prstGeom>
          <a:solidFill>
            <a:srgbClr val="E6F0EB"/>
          </a:solidFill>
          <a:ln w="9525">
            <a:solidFill>
              <a:srgbClr val="DCE3D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2FEFD5-FDA7-46CD-AB6D-C715D0CA45DB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 i="0">
                <a:solidFill>
                  <a:srgbClr val="214E45"/>
                </a:solidFill>
              </a:defRPr>
            </a:pPr>
            <a:r>
              <a:rPr sz="2700" b="1" i="0">
                <a:solidFill>
                  <a:srgbClr val="214E45"/>
                </a:solidFill>
              </a:rPr>
              <a:t>Nginx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5EDBA6-A0A7-4769-BF45-6835C8A03C4E}"/>
              </a:ext>
            </a:extLst>
          </p:cNvPr>
          <p:cNvSpPr>
            <a:spLocks noGrp="1"/>
          </p:cNvSpPr>
          <p:nvPr/>
        </p:nvSpPr>
        <p:spPr>
          <a:xfrm>
            <a:off x="3733800" y="26479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HTTPS · 静态资源 · /api/ 代理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83BCA-CCF3-45FB-9DEB-AC99E5988D8B}"/>
              </a:ext>
            </a:extLst>
          </p:cNvPr>
          <p:cNvSpPr>
            <a:spLocks noGrp="1"/>
          </p:cNvSpPr>
          <p:nvPr/>
        </p:nvSpPr>
        <p:spPr>
          <a:xfrm>
            <a:off x="6057900" y="23050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0" i="0">
                <a:solidFill>
                  <a:srgbClr val="2F6F62"/>
                </a:solidFill>
              </a:defRPr>
            </a:pPr>
            <a:r>
              <a:rPr sz="3150" b="0" i="0">
                <a:solidFill>
                  <a:srgbClr val="2F6F62"/>
                </a:solidFill>
              </a:rPr>
              <a:t>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40AE3B0-FADF-4C23-8D5A-C29D7BB4690D}"/>
              </a:ext>
            </a:extLst>
          </p:cNvPr>
          <p:cNvSpPr>
            <a:spLocks noGrp="1"/>
          </p:cNvSpPr>
          <p:nvPr/>
        </p:nvSpPr>
        <p:spPr>
          <a:xfrm>
            <a:off x="6858000" y="1885950"/>
            <a:ext cx="238125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A364A4-3557-4F78-9C99-373AD45CD21F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14211F"/>
                </a:solidFill>
              </a:defRPr>
            </a:pPr>
            <a:r>
              <a:rPr sz="2550" b="1" i="0">
                <a:solidFill>
                  <a:srgbClr val="14211F"/>
                </a:solidFill>
              </a:rPr>
              <a:t>FastAPI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113EB6-58E7-41C8-ABC5-318C48644151}"/>
              </a:ext>
            </a:extLst>
          </p:cNvPr>
          <p:cNvSpPr>
            <a:spLocks noGrp="1"/>
          </p:cNvSpPr>
          <p:nvPr/>
        </p:nvSpPr>
        <p:spPr>
          <a:xfrm>
            <a:off x="7048500" y="26670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65716D"/>
                </a:solidFill>
              </a:defRPr>
            </a:pPr>
            <a:r>
              <a:rPr sz="1500" b="0" i="0">
                <a:solidFill>
                  <a:srgbClr val="65716D"/>
                </a:solidFill>
              </a:rPr>
              <a:t>127.0.0.1:8000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BF6D1A-7EFE-4600-BB4F-BE4E6C49180B}"/>
              </a:ext>
            </a:extLst>
          </p:cNvPr>
          <p:cNvSpPr>
            <a:spLocks noGrp="1"/>
          </p:cNvSpPr>
          <p:nvPr/>
        </p:nvSpPr>
        <p:spPr>
          <a:xfrm>
            <a:off x="9391650" y="23050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0" i="0">
                <a:solidFill>
                  <a:srgbClr val="2F6F62"/>
                </a:solidFill>
              </a:defRPr>
            </a:pPr>
            <a:r>
              <a:rPr sz="3150" b="0" i="0">
                <a:solidFill>
                  <a:srgbClr val="2F6F62"/>
                </a:solidFill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6641C2-1819-4D7A-9074-E2D868532199}"/>
              </a:ext>
            </a:extLst>
          </p:cNvPr>
          <p:cNvSpPr>
            <a:spLocks noGrp="1"/>
          </p:cNvSpPr>
          <p:nvPr/>
        </p:nvSpPr>
        <p:spPr>
          <a:xfrm>
            <a:off x="9810750" y="21526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14211F"/>
                </a:solidFill>
              </a:defRPr>
            </a:pPr>
            <a:r>
              <a:rPr sz="1875" b="1" i="0">
                <a:solidFill>
                  <a:srgbClr val="14211F"/>
                </a:solidFill>
              </a:rPr>
              <a:t>Agent / RAG / SQLite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A9C5A8-D3C7-4FC2-A7A4-E16CB0592A68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1038225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0EF5EE-2271-497A-91A9-DB47C74C7579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57150" cy="1066800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673FBA-5EA1-4179-9BFC-2A5403FAFED6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455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公网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17B14C-B3A2-4897-BEE0-9CBDA813488B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4552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只开放 80 / 443；状态接口用于检查完整访问链路。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C3182F-11EB-48C7-B5AA-DA80D978ABF1}"/>
              </a:ext>
            </a:extLst>
          </p:cNvPr>
          <p:cNvSpPr>
            <a:spLocks noGrp="1"/>
          </p:cNvSpPr>
          <p:nvPr/>
        </p:nvSpPr>
        <p:spPr>
          <a:xfrm>
            <a:off x="6477000" y="4267200"/>
            <a:ext cx="57150" cy="1066800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4E718B-855B-462F-8EEF-5B4A92FF657F}"/>
              </a:ext>
            </a:extLst>
          </p:cNvPr>
          <p:cNvSpPr>
            <a:spLocks noGrp="1"/>
          </p:cNvSpPr>
          <p:nvPr/>
        </p:nvSpPr>
        <p:spPr>
          <a:xfrm>
            <a:off x="6686550" y="4248150"/>
            <a:ext cx="455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B56E3C"/>
                </a:solidFill>
              </a:defRPr>
            </a:pPr>
            <a:r>
              <a:rPr sz="1350" b="1" i="0">
                <a:solidFill>
                  <a:srgbClr val="B56E3C"/>
                </a:solidFill>
              </a:rPr>
              <a:t>服务端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1AE108-9D83-4CDD-99DA-25BD964C7071}"/>
              </a:ext>
            </a:extLst>
          </p:cNvPr>
          <p:cNvSpPr>
            <a:spLocks noGrp="1"/>
          </p:cNvSpPr>
          <p:nvPr/>
        </p:nvSpPr>
        <p:spPr>
          <a:xfrm>
            <a:off x="6686550" y="4629150"/>
            <a:ext cx="4552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星火与 Embedding 凭据通过环境变量注入，不进入前端产物。</a:t>
            </a:r>
          </a:p>
        </p:txBody>
      </p:sp>
    </p:spTree>
    <p:extLst>
      <p:ext uri="{BB962C8B-B14F-4D97-AF65-F5344CB8AC3E}">
        <p14:creationId xmlns:p14="http://schemas.microsoft.com/office/powerpoint/2010/main" val="1157142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F2116FF-5528-4D1C-A204-B9FF877A7BB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工程验证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2DADB7-9666-46B8-90CF-B1944391D395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25B53D-0154-43AC-9330-147959C131FA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测试证据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073A09-30E5-49C4-9A91-FA24B7C6E89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验证覆盖的是同一条真实学习链路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ED67BE-538C-4C1C-99D0-10A5ABDFDE3A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 i="0">
                <a:solidFill>
                  <a:srgbClr val="2F6F62"/>
                </a:solidFill>
              </a:defRPr>
            </a:pPr>
            <a:r>
              <a:rPr sz="5400" b="1" i="0">
                <a:solidFill>
                  <a:srgbClr val="2F6F62"/>
                </a:solidFill>
              </a:rPr>
              <a:t>81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358F38-FD4E-4FB5-BD4B-9591AFA280E2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Python 后端测试方法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B3E26-48E1-4507-9383-CF762FC9FEC4}"/>
              </a:ext>
            </a:extLst>
          </p:cNvPr>
          <p:cNvSpPr>
            <a:spLocks noGrp="1"/>
          </p:cNvSpPr>
          <p:nvPr/>
        </p:nvSpPr>
        <p:spPr>
          <a:xfrm>
            <a:off x="4286250" y="2095500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 i="0">
                <a:solidFill>
                  <a:srgbClr val="B56E3C"/>
                </a:solidFill>
              </a:defRPr>
            </a:pPr>
            <a:r>
              <a:rPr sz="5400" b="1" i="0">
                <a:solidFill>
                  <a:srgbClr val="B56E3C"/>
                </a:solidFill>
              </a:rPr>
              <a:t>18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F360DE-B4AB-454E-BC7A-55566519787C}"/>
              </a:ext>
            </a:extLst>
          </p:cNvPr>
          <p:cNvSpPr>
            <a:spLocks noGrp="1"/>
          </p:cNvSpPr>
          <p:nvPr/>
        </p:nvSpPr>
        <p:spPr>
          <a:xfrm>
            <a:off x="4286250" y="289560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后端测试文件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16C2EC-EA2C-4AC3-86A9-9386BDD89923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 i="0">
                <a:solidFill>
                  <a:srgbClr val="214E45"/>
                </a:solidFill>
              </a:defRPr>
            </a:pPr>
            <a:r>
              <a:rPr sz="5400" b="1" i="0">
                <a:solidFill>
                  <a:srgbClr val="214E45"/>
                </a:solidFill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91752C-3D68-4AEA-941E-906874547ED8}"/>
              </a:ext>
            </a:extLst>
          </p:cNvPr>
          <p:cNvSpPr>
            <a:spLocks noGrp="1"/>
          </p:cNvSpPr>
          <p:nvPr/>
        </p:nvSpPr>
        <p:spPr>
          <a:xfrm>
            <a:off x="7715250" y="289560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Playwright 学生主流程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15250E-14B9-4AA9-832A-FD7F66405449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981075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DF2706-0173-4DE7-A4E1-C2BD19D7C5B3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 i="0">
                <a:solidFill>
                  <a:srgbClr val="14211F"/>
                </a:solidFill>
              </a:defRPr>
            </a:pPr>
            <a:r>
              <a:rPr sz="2025" b="0" i="0">
                <a:solidFill>
                  <a:srgbClr val="14211F"/>
                </a:solidFill>
              </a:rPr>
              <a:t>覆盖画像、资料导入、检索、路径、资源、Tutor、Quiz、Evaluator、fallback 与 Agent trace。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C41410-11AB-462B-995D-3E61E0D78EEF}"/>
              </a:ext>
            </a:extLst>
          </p:cNvPr>
          <p:cNvSpPr>
            <a:spLocks noGrp="1"/>
          </p:cNvSpPr>
          <p:nvPr/>
        </p:nvSpPr>
        <p:spPr>
          <a:xfrm>
            <a:off x="3048000" y="55245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65716D"/>
                </a:solidFill>
              </a:defRPr>
            </a:pPr>
            <a:r>
              <a:rPr sz="1350" b="0" i="0">
                <a:solidFill>
                  <a:srgbClr val="65716D"/>
                </a:solidFill>
              </a:rPr>
              <a:t>以上为源码静态统计，不虚构通过率或性能数据。</a:t>
            </a:r>
          </a:p>
        </p:txBody>
      </p:sp>
    </p:spTree>
    <p:extLst>
      <p:ext uri="{BB962C8B-B14F-4D97-AF65-F5344CB8AC3E}">
        <p14:creationId xmlns:p14="http://schemas.microsoft.com/office/powerpoint/2010/main" val="1532419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AE4E924-8BD8-410B-A1EF-384C62E6A72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真实源码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E4C1AD-490C-4122-B4B0-36452165A4F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A6F8E4-7BC6-4298-ADF9-AB30879D0C74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student-loop.spec.ts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83DDE7-B688-4FFB-9D21-AF80F7C82E8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端到端测试按学生真实操作顺序执行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2754053-54EE-40D9-BC1C-C15C79957E54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495800"/>
          </a:xfrm>
          <a:prstGeom prst="roundRect">
            <a:avLst>
              <a:gd name="adj" fmla="val 3390"/>
            </a:avLst>
          </a:prstGeom>
          <a:solidFill>
            <a:srgbClr val="0F1C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BCA57C-0316-447B-94DF-C006FE12F226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8FB6AA"/>
                </a:solidFill>
              </a:defRPr>
            </a:pPr>
            <a:r>
              <a:rPr sz="1200" b="0" i="0">
                <a:solidFill>
                  <a:srgbClr val="8FB6AA"/>
                </a:solidFill>
              </a:rPr>
              <a:t>src/frontend/tests/student-loop.spec.ts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2B28EE-FD90-42AC-B4F2-2C9179978B67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9525"/>
          </a:xfrm>
          <a:prstGeom prst="rect">
            <a:avLst/>
          </a:prstGeom>
          <a:solidFill>
            <a:srgbClr val="29413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E7CDC4-863A-47C6-BB0F-3D9677ED8878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0382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test("学生端可以完成主要学习闭环", async ({ page }) =&gt; {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page.goto("/");</a:t>
            </a:r>
          </a:p>
          <a:p>
            <a:endParaRPr sz="1350" b="0" i="0">
              <a:solidFill>
                <a:srgbClr val="DCE9E4"/>
              </a:solidFill>
            </a:endParaRP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page.getByTestId("upload-knowledge-button").click();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page.getByTestId("build-profile-button").click();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page.getByTestId("create-path-button").click();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page.getByTestId("generate-resource-button").click();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page.getByTestId("ask-tutor-button").click();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  await page.getByTestId("submit-answer-button").click();</a:t>
            </a:r>
          </a:p>
          <a:p>
            <a:pPr algn="l">
              <a:defRPr sz="1350" b="0" i="0">
                <a:solidFill>
                  <a:srgbClr val="DCE9E4"/>
                </a:solidFill>
              </a:defRPr>
            </a:pPr>
            <a:r>
              <a:rPr sz="1350" b="0" i="0">
                <a:solidFill>
                  <a:srgbClr val="DCE9E4"/>
                </a:solidFill>
              </a:rPr>
              <a:t>});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6152BB-C74E-465F-B5FA-FA59885901C9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92A6A0"/>
                </a:solidFill>
              </a:defRPr>
            </a:pPr>
            <a:r>
              <a:rPr sz="1050" b="0" i="0">
                <a:solidFill>
                  <a:srgbClr val="92A6A0"/>
                </a:solidFill>
              </a:rPr>
              <a:t>测试脚本走过的页面顺序，与演示视频和答辩叙事保持一致。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997069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9F3752F-4A1B-4141-AD5F-B002127B65E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项目差异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B1A3CE-78FA-4EE0-B0D8-D3FCC8DB94FE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40FE98-D0EA-4741-9F8D-50DEF710A6EF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创新点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1441AC-D2FD-46DD-8F80-C08A0DD8A80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项目的差异，不在页面数量，而在四个设计选择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3A1760-E637-4A67-BEA2-EFFE790CCF0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62"/>
                </a:solidFill>
              </a:defRPr>
            </a:pPr>
            <a:r>
              <a:rPr sz="1725" b="1" i="0">
                <a:solidFill>
                  <a:srgbClr val="2F6F62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D2506E-EF33-4A00-BAB3-A837AA77B29E}"/>
              </a:ext>
            </a:extLst>
          </p:cNvPr>
          <p:cNvSpPr>
            <a:spLocks noGrp="1"/>
          </p:cNvSpPr>
          <p:nvPr/>
        </p:nvSpPr>
        <p:spPr>
          <a:xfrm>
            <a:off x="1543050" y="1771650"/>
            <a:ext cx="409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4211F"/>
                </a:solidFill>
              </a:defRPr>
            </a:pPr>
            <a:r>
              <a:rPr sz="2250" b="1" i="0">
                <a:solidFill>
                  <a:srgbClr val="14211F"/>
                </a:solidFill>
              </a:rPr>
              <a:t>六维画像持续参与决策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3759FA-6161-49F2-A02B-8B10B2E10C8C}"/>
              </a:ext>
            </a:extLst>
          </p:cNvPr>
          <p:cNvSpPr>
            <a:spLocks noGrp="1"/>
          </p:cNvSpPr>
          <p:nvPr/>
        </p:nvSpPr>
        <p:spPr>
          <a:xfrm>
            <a:off x="1543050" y="24955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不是注册时填写一次后就失效。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CA6D97-4FA5-49F1-B5F6-F995576268D6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476250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0CCC79-1607-4692-9909-C8DB2D051F2F}"/>
              </a:ext>
            </a:extLst>
          </p:cNvPr>
          <p:cNvSpPr>
            <a:spLocks noGrp="1"/>
          </p:cNvSpPr>
          <p:nvPr/>
        </p:nvSpPr>
        <p:spPr>
          <a:xfrm>
            <a:off x="6200775" y="18097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62"/>
                </a:solidFill>
              </a:defRPr>
            </a:pPr>
            <a:r>
              <a:rPr sz="1725" b="1" i="0">
                <a:solidFill>
                  <a:srgbClr val="2F6F62"/>
                </a:solidFill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211090-AA49-487B-8D51-115D332929ED}"/>
              </a:ext>
            </a:extLst>
          </p:cNvPr>
          <p:cNvSpPr>
            <a:spLocks noGrp="1"/>
          </p:cNvSpPr>
          <p:nvPr/>
        </p:nvSpPr>
        <p:spPr>
          <a:xfrm>
            <a:off x="7019925" y="1771650"/>
            <a:ext cx="409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4211F"/>
                </a:solidFill>
              </a:defRPr>
            </a:pPr>
            <a:r>
              <a:rPr sz="2250" b="1" i="0">
                <a:solidFill>
                  <a:srgbClr val="14211F"/>
                </a:solidFill>
              </a:rPr>
              <a:t>角色与工具边界明确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EFEF94-52CE-4653-95A3-97FE87BCBEE4}"/>
              </a:ext>
            </a:extLst>
          </p:cNvPr>
          <p:cNvSpPr>
            <a:spLocks noGrp="1"/>
          </p:cNvSpPr>
          <p:nvPr/>
        </p:nvSpPr>
        <p:spPr>
          <a:xfrm>
            <a:off x="7019925" y="24955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调度、检索、生成、评价各负其责。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626A8D-F6DD-4417-9894-1F0C8949CC25}"/>
              </a:ext>
            </a:extLst>
          </p:cNvPr>
          <p:cNvSpPr>
            <a:spLocks noGrp="1"/>
          </p:cNvSpPr>
          <p:nvPr/>
        </p:nvSpPr>
        <p:spPr>
          <a:xfrm>
            <a:off x="6200775" y="3314700"/>
            <a:ext cx="476250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55C672-DE52-4A89-A30E-927F07773005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62"/>
                </a:solidFill>
              </a:defRPr>
            </a:pPr>
            <a:r>
              <a:rPr sz="1725" b="1" i="0">
                <a:solidFill>
                  <a:srgbClr val="2F6F62"/>
                </a:solidFill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F56FE6-7D2A-4D54-BCE6-B3C66CE380F0}"/>
              </a:ext>
            </a:extLst>
          </p:cNvPr>
          <p:cNvSpPr>
            <a:spLocks noGrp="1"/>
          </p:cNvSpPr>
          <p:nvPr/>
        </p:nvSpPr>
        <p:spPr>
          <a:xfrm>
            <a:off x="1543050" y="3771900"/>
            <a:ext cx="409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4211F"/>
                </a:solidFill>
              </a:defRPr>
            </a:pPr>
            <a:r>
              <a:rPr sz="2250" b="1" i="0">
                <a:solidFill>
                  <a:srgbClr val="14211F"/>
                </a:solidFill>
              </a:rPr>
              <a:t>来源证据与运行 trace 并存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831F03-0BC0-47A1-9A9E-0E7269393456}"/>
              </a:ext>
            </a:extLst>
          </p:cNvPr>
          <p:cNvSpPr>
            <a:spLocks noGrp="1"/>
          </p:cNvSpPr>
          <p:nvPr/>
        </p:nvSpPr>
        <p:spPr>
          <a:xfrm>
            <a:off x="1543050" y="44958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既解释内容从哪来，也解释系统为什么这样做。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0872E-E622-4C12-901C-EE30D4A7B65F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4762500" cy="9525"/>
          </a:xfrm>
          <a:prstGeom prst="rect">
            <a:avLst/>
          </a:prstGeom>
          <a:solidFill>
            <a:srgbClr val="DCE3D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69DB6D-6177-4871-86C3-E5DFA40BA9C5}"/>
              </a:ext>
            </a:extLst>
          </p:cNvPr>
          <p:cNvSpPr>
            <a:spLocks noGrp="1"/>
          </p:cNvSpPr>
          <p:nvPr/>
        </p:nvSpPr>
        <p:spPr>
          <a:xfrm>
            <a:off x="6200775" y="38100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62"/>
                </a:solidFill>
              </a:defRPr>
            </a:pPr>
            <a:r>
              <a:rPr sz="1725" b="1" i="0">
                <a:solidFill>
                  <a:srgbClr val="2F6F62"/>
                </a:solidFill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05F936-D414-42D1-860A-82AC854C4E8B}"/>
              </a:ext>
            </a:extLst>
          </p:cNvPr>
          <p:cNvSpPr>
            <a:spLocks noGrp="1"/>
          </p:cNvSpPr>
          <p:nvPr/>
        </p:nvSpPr>
        <p:spPr>
          <a:xfrm>
            <a:off x="7019925" y="3771900"/>
            <a:ext cx="409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4211F"/>
                </a:solidFill>
              </a:defRPr>
            </a:pPr>
            <a:r>
              <a:rPr sz="2250" b="1" i="0">
                <a:solidFill>
                  <a:srgbClr val="14211F"/>
                </a:solidFill>
              </a:rPr>
              <a:t>远程模型与本地回退并存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888D44-1640-4D79-88C0-F6F10CCE584D}"/>
              </a:ext>
            </a:extLst>
          </p:cNvPr>
          <p:cNvSpPr>
            <a:spLocks noGrp="1"/>
          </p:cNvSpPr>
          <p:nvPr/>
        </p:nvSpPr>
        <p:spPr>
          <a:xfrm>
            <a:off x="7019925" y="44958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6D"/>
                </a:solidFill>
              </a:defRPr>
            </a:pPr>
            <a:r>
              <a:rPr sz="1575" b="0" i="0">
                <a:solidFill>
                  <a:srgbClr val="65716D"/>
                </a:solidFill>
              </a:rPr>
              <a:t>有网络展示智能效果，无网络仍能完成主流程。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780FD0-7261-4BDE-86AA-3B46C3EC8BF9}"/>
              </a:ext>
            </a:extLst>
          </p:cNvPr>
          <p:cNvSpPr>
            <a:spLocks noGrp="1"/>
          </p:cNvSpPr>
          <p:nvPr/>
        </p:nvSpPr>
        <p:spPr>
          <a:xfrm>
            <a:off x="6200775" y="5314950"/>
            <a:ext cx="4762500" cy="28575"/>
          </a:xfrm>
          <a:prstGeom prst="rect">
            <a:avLst/>
          </a:prstGeom>
          <a:solidFill>
            <a:srgbClr val="B56E3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3113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5ECBA44-C57F-4F8C-81C9-6AE05D2C07D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边界与路线图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95CCF1-B189-4EAF-B359-64AA5D204A3E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5716D"/>
                </a:solidFill>
              </a:defRPr>
            </a:pPr>
            <a:r>
              <a:rPr sz="1050" b="0" i="0">
                <a:solidFill>
                  <a:srgbClr val="65716D"/>
                </a:solidFill>
              </a:rPr>
              <a:t>29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A2FB6B-AA93-4AFB-9269-47AFFEC8E26E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F6F62"/>
                </a:solidFill>
              </a:defRPr>
            </a:pPr>
            <a:r>
              <a:rPr sz="1200" b="1" i="0">
                <a:solidFill>
                  <a:srgbClr val="2F6F62"/>
                </a:solidFill>
              </a:rPr>
              <a:t>当前版本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6D43EA-C7CB-4B04-9A37-B350B73B96A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34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14211F"/>
                </a:solidFill>
              </a:defRPr>
            </a:pPr>
            <a:r>
              <a:rPr sz="3600" b="1" i="0">
                <a:solidFill>
                  <a:srgbClr val="14211F"/>
                </a:solidFill>
              </a:rPr>
              <a:t>边界说清楚，路线图才可信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A5ADB1-7C37-425C-92D4-A583E3B129BE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214E45"/>
                </a:solidFill>
              </a:defRPr>
            </a:pPr>
            <a:r>
              <a:rPr sz="2400" b="1" i="0">
                <a:solidFill>
                  <a:srgbClr val="214E45"/>
                </a:solidFill>
              </a:rPr>
              <a:t>现在能稳定演示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27F0D3-B2CD-4848-9F57-353777218E27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五个数据结构知识主题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0A13A-3AF5-4638-A9F7-14F97F72FD74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五类真实文本资源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74F28A-924C-452E-BF48-150C8E68ABEF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文字 Tutor 与智能测验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82F02E-0785-4F9C-8711-A3BCA4CFC378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SQLite 演示数据与离线回退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17550-ADBC-4282-AAD7-DD7EA4E1E9F7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公网访问与服务端模型配置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FF485D-9279-45BB-B82E-93A02A70CED6}"/>
              </a:ext>
            </a:extLst>
          </p:cNvPr>
          <p:cNvSpPr>
            <a:spLocks noGrp="1"/>
          </p:cNvSpPr>
          <p:nvPr/>
        </p:nvSpPr>
        <p:spPr>
          <a:xfrm>
            <a:off x="5905500" y="1657350"/>
            <a:ext cx="19050" cy="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E14D0E-C0D3-4838-B6DF-A59A43FC535E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B56E3C"/>
                </a:solidFill>
              </a:defRPr>
            </a:pPr>
            <a:r>
              <a:rPr sz="2400" b="1" i="0">
                <a:solidFill>
                  <a:srgbClr val="B56E3C"/>
                </a:solidFill>
              </a:rPr>
              <a:t>下一阶段重点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970A61-4E63-4541-8DFB-E0B4253A2136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扩充完整课程知识库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3C5580-4E70-4DF8-BB1F-885B45D1FCAE}"/>
              </a:ext>
            </a:extLst>
          </p:cNvPr>
          <p:cNvSpPr>
            <a:spLocks noGrp="1"/>
          </p:cNvSpPr>
          <p:nvPr/>
        </p:nvSpPr>
        <p:spPr>
          <a:xfrm>
            <a:off x="6591300" y="30099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更严格的事实与内容安全评测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87256F-2F8D-41B7-B1DE-481978A36492}"/>
              </a:ext>
            </a:extLst>
          </p:cNvPr>
          <p:cNvSpPr>
            <a:spLocks noGrp="1"/>
          </p:cNvSpPr>
          <p:nvPr/>
        </p:nvSpPr>
        <p:spPr>
          <a:xfrm>
            <a:off x="6591300" y="35623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正式认证与权限隔离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CE989E-4DB8-4CBC-8FF5-AC217F9BB43C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生产数据库与异步任务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EC80A9-95FD-43EB-9AC1-6FEBFAF60010}"/>
              </a:ext>
            </a:extLst>
          </p:cNvPr>
          <p:cNvSpPr>
            <a:spLocks noGrp="1"/>
          </p:cNvSpPr>
          <p:nvPr/>
        </p:nvSpPr>
        <p:spPr>
          <a:xfrm>
            <a:off x="6591300" y="46672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4211F"/>
                </a:solidFill>
              </a:defRPr>
            </a:pPr>
            <a:r>
              <a:rPr sz="1725" b="0" i="0">
                <a:solidFill>
                  <a:srgbClr val="14211F"/>
                </a:solidFill>
              </a:rPr>
              <a:t>— 真实图像 / 动画资源生成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341996-3E66-4203-9A24-C96A031583D5}"/>
              </a:ext>
            </a:extLst>
          </p:cNvPr>
          <p:cNvSpPr>
            <a:spLocks noGrp="1"/>
          </p:cNvSpPr>
          <p:nvPr/>
        </p:nvSpPr>
        <p:spPr>
          <a:xfrm>
            <a:off x="2095500" y="59055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0">
                <a:solidFill>
                  <a:srgbClr val="65716D"/>
                </a:solidFill>
              </a:defRPr>
            </a:pPr>
            <a:r>
              <a:rPr sz="1425" b="0" i="0">
                <a:solidFill>
                  <a:srgbClr val="65716D"/>
                </a:solidFill>
              </a:rPr>
              <a:t>不把预留接口写成已完成能力，也不把演示数据写成生产结论。</a:t>
            </a:r>
          </a:p>
        </p:txBody>
      </p:sp>
    </p:spTree>
    <p:extLst>
      <p:ext uri="{BB962C8B-B14F-4D97-AF65-F5344CB8AC3E}">
        <p14:creationId xmlns:p14="http://schemas.microsoft.com/office/powerpoint/2010/main" val="656468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507FC9-E288-4977-8583-C20C029E621B}"/>
              </a:ext>
            </a:extLst>
          </p:cNvPr>
          <p:cNvSpPr>
            <a:spLocks noGrp="1"/>
          </p:cNvSpPr>
          <p:nvPr/>
        </p:nvSpPr>
        <p:spPr>
          <a:xfrm>
            <a:off x="762000" y="990600"/>
            <a:ext cx="6286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 i="0">
                <a:solidFill>
                  <a:srgbClr val="14211F"/>
                </a:solidFill>
              </a:defRPr>
            </a:pPr>
            <a:r>
              <a:rPr sz="4050" b="1" i="0">
                <a:solidFill>
                  <a:srgbClr val="14211F"/>
                </a:solidFill>
              </a:rPr>
              <a:t>让系统跟着学生变化，</a:t>
            </a:r>
          </a:p>
          <a:p>
            <a:pPr algn="l">
              <a:defRPr sz="4050" b="1" i="0">
                <a:solidFill>
                  <a:srgbClr val="14211F"/>
                </a:solidFill>
              </a:defRPr>
            </a:pPr>
            <a:r>
              <a:rPr sz="4050" b="1" i="0">
                <a:solidFill>
                  <a:srgbClr val="14211F"/>
                </a:solidFill>
              </a:rPr>
              <a:t>而不是让学生适应</a:t>
            </a:r>
          </a:p>
          <a:p>
            <a:pPr algn="l">
              <a:defRPr sz="4050" b="1" i="0">
                <a:solidFill>
                  <a:srgbClr val="14211F"/>
                </a:solidFill>
              </a:defRPr>
            </a:pPr>
            <a:r>
              <a:rPr sz="4050" b="1" i="0">
                <a:solidFill>
                  <a:srgbClr val="14211F"/>
                </a:solidFill>
              </a:rPr>
              <a:t>固定内容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DB2623-5906-4784-8E58-77E7315E622E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 i="0">
                <a:solidFill>
                  <a:srgbClr val="65716D"/>
                </a:solidFill>
              </a:defRPr>
            </a:pPr>
            <a:r>
              <a:rPr sz="2025" b="0" i="0">
                <a:solidFill>
                  <a:srgbClr val="65716D"/>
                </a:solidFill>
              </a:rPr>
              <a:t>六维画像驱动多智能体协作，课程证据约束生成，评价反馈持续回流。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952913-2474-4C39-B8B1-FA6B45604D90}"/>
              </a:ext>
            </a:extLst>
          </p:cNvPr>
          <p:cNvSpPr>
            <a:spLocks noGrp="1"/>
          </p:cNvSpPr>
          <p:nvPr/>
        </p:nvSpPr>
        <p:spPr>
          <a:xfrm>
            <a:off x="800100" y="4267200"/>
            <a:ext cx="1257300" cy="47625"/>
          </a:xfrm>
          <a:prstGeom prst="rect">
            <a:avLst/>
          </a:prstGeom>
          <a:solidFill>
            <a:srgbClr val="2F6F62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FB4E1A-1C41-49AD-BD55-FE96539280A9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F6F62"/>
                </a:solidFill>
              </a:defRPr>
            </a:pPr>
            <a:r>
              <a:rPr sz="1350" b="1" i="0">
                <a:solidFill>
                  <a:srgbClr val="2F6F62"/>
                </a:solidFill>
              </a:rPr>
              <a:t>在线演示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4A6E43-A071-45D3-99FB-8D726F7041EA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214E45"/>
                </a:solidFill>
              </a:defRPr>
            </a:pPr>
            <a:r>
              <a:rPr sz="2400" b="1" i="0">
                <a:solidFill>
                  <a:srgbClr val="214E45"/>
                </a:solidFill>
              </a:rPr>
              <a:t>https://ms7.fun/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AC1338E-D331-4C92-88E8-EF4C7A945222}"/>
              </a:ext>
            </a:extLst>
          </p:cNvPr>
          <p:cNvSpPr>
            <a:spLocks noGrp="1"/>
          </p:cNvSpPr>
          <p:nvPr/>
        </p:nvSpPr>
        <p:spPr>
          <a:xfrm>
            <a:off x="7429500" y="781050"/>
            <a:ext cx="4191000" cy="5048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3DF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25371" r="25371"/>
          <a:stretch>
            <a:fillRect/>
          </a:stretch>
        </p:blipFill>
        <p:spPr>
          <a:xfrm>
            <a:off x="7524750" y="876300"/>
            <a:ext cx="4000500" cy="4857750"/>
          </a:xfrm>
          <a:prstGeom prst="roundRect">
            <a:avLst>
              <a:gd name="adj" fmla="val 2857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8409193-85DE-4E06-8592-069E615C6F64}"/>
              </a:ext>
            </a:extLst>
          </p:cNvPr>
          <p:cNvSpPr>
            <a:spLocks noGrp="1"/>
          </p:cNvSpPr>
          <p:nvPr/>
        </p:nvSpPr>
        <p:spPr>
          <a:xfrm>
            <a:off x="800100" y="6057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65716D"/>
                </a:solidFill>
              </a:defRPr>
            </a:pPr>
            <a:r>
              <a:rPr sz="1500" b="0" i="0">
                <a:solidFill>
                  <a:srgbClr val="65716D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7995843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1701</Words>
  <Application>Microsoft Office PowerPoint</Application>
  <DocSecurity>0</DocSecurity>
  <PresentationFormat>宽屏</PresentationFormat>
  <Paragraphs>417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1504439401@qq.com</cp:lastModifiedBy>
  <cp:revision>1</cp:revision>
  <dcterms:created xsi:type="dcterms:W3CDTF">2026-07-19T17:24:39Z</dcterms:created>
  <dcterms:modified xsi:type="dcterms:W3CDTF">2026-07-19T17:30:39Z</dcterms:modified>
</cp:coreProperties>
</file>